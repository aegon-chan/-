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2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Research Agent 项目介绍</a:t>
            </a:r>
          </a:p>
          <a:p>
            <a:r>
              <a:rPr lang="zh-CN" dirty="0"/>
              <a:t>• 自我成长型科研数据分析助手</a:t>
            </a:r>
          </a:p>
          <a:p>
            <a:r>
              <a:rPr lang="zh-CN" dirty="0"/>
              <a:t>• 面向地质变形监测、水文监测、科学研究三大场景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传统监测数据分析效率低、门槛高</a:t>
            </a:r>
          </a:p>
          <a:p>
            <a:r>
              <a:rPr lang="zh-CN" dirty="0"/>
              <a:t>• AI Agent 赋能科研数据分析解决方案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七大核心能力形成完整闭环</a:t>
            </a:r>
          </a:p>
          <a:p>
            <a:r>
              <a:rPr lang="zh-CN" dirty="0"/>
              <a:t>• Self-Growth 是核心差异化能力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四层松耦合设计</a:t>
            </a:r>
          </a:p>
          <a:p>
            <a:r>
              <a:rPr lang="zh-CN" dirty="0"/>
              <a:t>• 关键技术栈一览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五大分析模块覆盖地质与水文监测核心需求</a:t>
            </a:r>
          </a:p>
          <a:p>
            <a:r>
              <a:rPr lang="zh-CN" dirty="0"/>
              <a:t>• GNSS/InSAR/降雨/地下水位/孔隙水压力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ChromaDB + BGE 语义检索</a:t>
            </a:r>
          </a:p>
          <a:p>
            <a:r>
              <a:rPr lang="zh-CN" dirty="0"/>
              <a:t>• 技术规范/科研文献/历史案例三种知识库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多格式输出: HTML/DOCX/PDF</a:t>
            </a:r>
          </a:p>
          <a:p>
            <a:r>
              <a:rPr lang="zh-CN" dirty="0"/>
              <a:t>• Plotly + Matplotlib 双图表引擎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核心亮点: 每一次使用都在让 Agent 变得更好</a:t>
            </a:r>
          </a:p>
          <a:p>
            <a:r>
              <a:rPr lang="zh-CN" dirty="0"/>
              <a:t>• 记忆网络/反馈系统/APE/LoRA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ReAct 推理循环: 思考-行动-观察-反思</a:t>
            </a:r>
          </a:p>
          <a:p>
            <a:r>
              <a:rPr lang="zh-CN" dirty="0"/>
              <a:t>• 代码沙箱: 隔离执行 + 安全策略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四阶段渐进式开发计划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架构先进/自我进化/安全可靠/开箱即用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感谢关注, 欢迎交流</a:t>
            </a:r>
          </a:p>
          <a:p>
            <a:r>
              <a:rPr lang="zh-CN" dirty="0"/>
              <a:t>• Research Agent Team | 2026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2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D2B4E"/>
              </a:gs>
              <a:gs pos="50000">
                <a:srgbClr val="1565C0"/>
              </a:gs>
              <a:gs pos="100000">
                <a:srgbClr val="0D2B4E"/>
              </a:gs>
            </a:gsLst>
            <a:lin ang="2700000" scaled="1"/>
          </a:gradFill>
          <a:ln>
            <a:noFill/>
          </a:ln>
        </p:spPr>
      </p:sp>
      <p:grpSp>
        <p:nvGrpSpPr>
          <p:cNvPr id="15" name="Group 1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Line 3"/>
            <p:cNvSpPr/>
            <p:nvPr/>
          </p:nvSpPr>
          <p:spPr>
            <a:xfrm>
              <a:off x="0" y="1143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4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228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4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4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4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0" y="5715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FFFFFF">
                  <a:alpha val="4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152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4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4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457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4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4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762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4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4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1066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FFFFF">
                  <a:alpha val="4000"/>
                </a:srgbClr>
              </a:solidFill>
            </a:ln>
          </p:spPr>
        </p:sp>
      </p:grpSp>
      <p:sp>
        <p:nvSpPr>
          <p:cNvPr id="16" name="Ellipse 16"/>
          <p:cNvSpPr/>
          <p:nvPr/>
        </p:nvSpPr>
        <p:spPr>
          <a:xfrm>
            <a:off x="2286000" y="-952500"/>
            <a:ext cx="7620000" cy="7620000"/>
          </a:xfrm>
          <a:prstGeom prst="ellipse">
            <a:avLst/>
          </a:prstGeom>
          <a:gradFill>
            <a:gsLst>
              <a:gs pos="0">
                <a:srgbClr val="1565C0">
                  <a:alpha val="40000"/>
                </a:srgbClr>
              </a:gs>
              <a:gs pos="100000">
                <a:srgbClr val="1565C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7" name="Ellipse 17"/>
          <p:cNvSpPr/>
          <p:nvPr/>
        </p:nvSpPr>
        <p:spPr>
          <a:xfrm>
            <a:off x="762000" y="285750"/>
            <a:ext cx="2286000" cy="2286000"/>
          </a:xfrm>
          <a:prstGeom prst="ellipse">
            <a:avLst/>
          </a:prstGeom>
          <a:noFill/>
          <a:ln w="19050">
            <a:solidFill>
              <a:srgbClr val="00BFA5">
                <a:alpha val="12000"/>
              </a:srgbClr>
            </a:solidFill>
          </a:ln>
        </p:spPr>
      </p:sp>
      <p:sp>
        <p:nvSpPr>
          <p:cNvPr id="18" name="Ellipse 18"/>
          <p:cNvSpPr/>
          <p:nvPr/>
        </p:nvSpPr>
        <p:spPr>
          <a:xfrm>
            <a:off x="1143000" y="666750"/>
            <a:ext cx="1524000" cy="1524000"/>
          </a:xfrm>
          <a:prstGeom prst="ellipse">
            <a:avLst/>
          </a:prstGeom>
          <a:noFill/>
          <a:ln w="9525">
            <a:solidFill>
              <a:srgbClr val="00BFA5">
                <a:alpha val="8000"/>
              </a:srgbClr>
            </a:solidFill>
          </a:ln>
        </p:spPr>
      </p:sp>
      <p:sp>
        <p:nvSpPr>
          <p:cNvPr id="19" name="Ellipse 19"/>
          <p:cNvSpPr/>
          <p:nvPr/>
        </p:nvSpPr>
        <p:spPr>
          <a:xfrm>
            <a:off x="9525000" y="4286250"/>
            <a:ext cx="1905000" cy="1905000"/>
          </a:xfrm>
          <a:prstGeom prst="ellipse">
            <a:avLst/>
          </a:prstGeom>
          <a:noFill/>
          <a:ln w="19050">
            <a:solidFill>
              <a:srgbClr val="7C4DFF">
                <a:alpha val="10000"/>
              </a:srgbClr>
            </a:solidFill>
          </a:ln>
        </p:spPr>
      </p:sp>
      <p:sp>
        <p:nvSpPr>
          <p:cNvPr id="20" name="Ellipse 20"/>
          <p:cNvSpPr/>
          <p:nvPr/>
        </p:nvSpPr>
        <p:spPr>
          <a:xfrm>
            <a:off x="9906000" y="4667250"/>
            <a:ext cx="1143000" cy="1143000"/>
          </a:xfrm>
          <a:prstGeom prst="ellipse">
            <a:avLst/>
          </a:prstGeom>
          <a:noFill/>
          <a:ln w="9525">
            <a:solidFill>
              <a:srgbClr val="7C4DFF">
                <a:alpha val="6000"/>
              </a:srgbClr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571500" y="0"/>
            <a:ext cx="28575" cy="1143000"/>
          </a:xfrm>
          <a:prstGeom prst="rect">
            <a:avLst/>
          </a:prstGeom>
          <a:solidFill>
            <a:srgbClr val="00BFA5">
              <a:alpha val="50000"/>
            </a:srgbClr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gradFill>
            <a:gsLst>
              <a:gs pos="0">
                <a:srgbClr val="00BFA5">
                  <a:alpha val="30000"/>
                </a:srgbClr>
              </a:gs>
              <a:gs pos="100000">
                <a:srgbClr val="7C4DFF">
                  <a:alpha val="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3210968" y="2084070"/>
            <a:ext cx="5770064" cy="1097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4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Research Agent</a:t>
            </a:r>
          </a:p>
        </p:txBody>
      </p:sp>
      <p:sp>
        <p:nvSpPr>
          <p:cNvPr id="24" name="Rectangle 24"/>
          <p:cNvSpPr/>
          <p:nvPr/>
        </p:nvSpPr>
        <p:spPr>
          <a:xfrm>
            <a:off x="4953000" y="2952750"/>
            <a:ext cx="2286000" cy="38100"/>
          </a:xfrm>
          <a:prstGeom prst="roundRect">
            <a:avLst>
              <a:gd name="adj" fmla="val 50000"/>
            </a:avLst>
          </a:prstGeom>
          <a:solidFill>
            <a:srgbClr val="00BFA5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4249102" y="3202305"/>
            <a:ext cx="369379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E0E7FF"/>
                </a:solidFill>
                <a:latin typeface="Arial"/>
                <a:ea typeface="Microsoft YaHei"/>
                <a:cs typeface="Arial"/>
              </a:rPr>
              <a:t>自我成长型科研数据分析助手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940492" y="3680460"/>
            <a:ext cx="431101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面向地质变形监测 / 水文监测 / 科学研究的 AI 智能分析平台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519095" y="6173152"/>
            <a:ext cx="115381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2026.07 | v0.1.0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280035"/>
            <a:ext cx="158076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项目定位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7143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00BFA5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238250"/>
            <a:ext cx="3619500" cy="495300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265968" y="3664268"/>
            <a:ext cx="223056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AI Agent 赋能科研数据分析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743450" y="1362075"/>
            <a:ext cx="8782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背景痛点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747260" y="1727835"/>
            <a:ext cx="3383280" cy="5105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100"/>
              </a:lnSpc>
            </a:pPr>
            <a:r>
              <a:rPr lang="zh-CN" sz="120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传统监测数据处理依赖人工操作：数据格式繁多、</a:t>
            </a:r>
            <a:r>
              <a:rPr lang="zh-CN" sz="120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分析流程重复、报告编写耗时，技术门槛高。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743450" y="2505075"/>
            <a:ext cx="8782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解决方案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747260" y="2870835"/>
            <a:ext cx="353568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100"/>
              </a:lnSpc>
            </a:pPr>
            <a:r>
              <a:rPr lang="zh-CN" sz="120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以 AI Agent 赋能科研数据分析：自然语言驱动</a:t>
            </a:r>
            <a:r>
              <a:rPr lang="zh-CN" sz="120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专业分析、语义检索规范文献、自动生成监测报告、</a:t>
            </a:r>
            <a:r>
              <a:rPr lang="zh-CN" sz="120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通过用户反馈持续自我进化。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43450" y="3838575"/>
            <a:ext cx="8782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目标用户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747260" y="4204335"/>
            <a:ext cx="311886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地质工程师 / 水文研究员 / 监测数据分析师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743450" y="4886325"/>
            <a:ext cx="8782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核心命题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747260" y="5252085"/>
            <a:ext cx="45110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一个能通过持续使用与反馈自我进化的科研数据智能分析助手。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6762750"/>
            <a:ext cx="12192000" cy="95250"/>
          </a:xfrm>
          <a:prstGeom prst="rect">
            <a:avLst/>
          </a:prstGeom>
          <a:solidFill>
            <a:srgbClr val="1565C0">
              <a:alpha val="8000"/>
            </a:srgbClr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561022" y="6626066"/>
            <a:ext cx="114859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Research Agent · P02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280035"/>
            <a:ext cx="233686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核心能力全景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7143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00BFA5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6260" y="899160"/>
            <a:ext cx="35509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七大核心能力覆盖从数据接入到智能决策的全链路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333500"/>
            <a:ext cx="3333750" cy="2286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1333500"/>
            <a:ext cx="3333750" cy="3810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40105" y="1616392"/>
            <a:ext cx="15181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Multi-model LLM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3915" y="1982152"/>
            <a:ext cx="200791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支持 DeepSeek / Kimi / OpenAI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43915" y="2210752"/>
            <a:ext cx="17068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多种大语言模型，运行时可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3915" y="2439352"/>
            <a:ext cx="17768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热切换，内置 Fallback 机制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429125" y="1333500"/>
            <a:ext cx="3333750" cy="2286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4429125" y="1333500"/>
            <a:ext cx="3333750" cy="38100"/>
          </a:xfrm>
          <a:prstGeom prst="roundRect">
            <a:avLst>
              <a:gd name="adj" fmla="val 50000"/>
            </a:avLst>
          </a:prstGeom>
          <a:solidFill>
            <a:srgbClr val="00BFA5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4697730" y="1616392"/>
            <a:ext cx="14425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Domain Analysis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701540" y="1982152"/>
            <a:ext cx="193090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GNSS 位移 / InSAR 形变 / 降雨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701540" y="2210752"/>
            <a:ext cx="17068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/ 地下水位 / 孔隙水压力等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701540" y="2439352"/>
            <a:ext cx="15668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专业监测数据的深度分析</a:t>
            </a:r>
          </a:p>
        </p:txBody>
      </p:sp>
      <p:sp>
        <p:nvSpPr>
          <p:cNvPr id="19" name="Rectangle 19"/>
          <p:cNvSpPr/>
          <p:nvPr/>
        </p:nvSpPr>
        <p:spPr>
          <a:xfrm>
            <a:off x="8286750" y="1333500"/>
            <a:ext cx="3333750" cy="2286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8286750" y="1333500"/>
            <a:ext cx="3333750" cy="38100"/>
          </a:xfrm>
          <a:prstGeom prst="roundRect">
            <a:avLst>
              <a:gd name="adj" fmla="val 50000"/>
            </a:avLst>
          </a:prstGeom>
          <a:solidFill>
            <a:srgbClr val="7C4DFF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8555355" y="1616392"/>
            <a:ext cx="180166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RAG Knowledge Base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559165" y="1982152"/>
            <a:ext cx="19449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ChromaDB + BGE 语义向量检索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559165" y="2210752"/>
            <a:ext cx="18468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秒级检索技术规范、科研文献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559165" y="2439352"/>
            <a:ext cx="128682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历史案例等专业知识</a:t>
            </a:r>
          </a:p>
        </p:txBody>
      </p:sp>
      <p:sp>
        <p:nvSpPr>
          <p:cNvPr id="25" name="Rectangle 25"/>
          <p:cNvSpPr/>
          <p:nvPr/>
        </p:nvSpPr>
        <p:spPr>
          <a:xfrm>
            <a:off x="571500" y="3905250"/>
            <a:ext cx="3333750" cy="2286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571500" y="3905250"/>
            <a:ext cx="3333750" cy="3810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840105" y="4188142"/>
            <a:ext cx="13952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Auto Reporting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43915" y="4553902"/>
            <a:ext cx="217593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一键生成 HTML / DOCX / PDF 格式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43915" y="4782502"/>
            <a:ext cx="204292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专业监测报告，内置 Plotly 交互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43915" y="5011102"/>
            <a:ext cx="19239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图表与 Matplotlib 出版级图表</a:t>
            </a:r>
          </a:p>
        </p:txBody>
      </p:sp>
      <p:sp>
        <p:nvSpPr>
          <p:cNvPr id="31" name="Rectangle 31"/>
          <p:cNvSpPr/>
          <p:nvPr/>
        </p:nvSpPr>
        <p:spPr>
          <a:xfrm>
            <a:off x="4429125" y="3905250"/>
            <a:ext cx="3333750" cy="2286000"/>
          </a:xfrm>
          <a:prstGeom prst="roundRect">
            <a:avLst>
              <a:gd name="adj" fmla="val 5000"/>
            </a:avLst>
          </a:prstGeom>
          <a:solidFill>
            <a:srgbClr val="F0FDFA"/>
          </a:solidFill>
          <a:ln w="19050">
            <a:solidFill>
              <a:srgbClr val="00BFA5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4429125" y="3905250"/>
            <a:ext cx="3333750" cy="38100"/>
          </a:xfrm>
          <a:prstGeom prst="roundRect">
            <a:avLst>
              <a:gd name="adj" fmla="val 50000"/>
            </a:avLst>
          </a:prstGeom>
          <a:solidFill>
            <a:srgbClr val="00BFA5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4697730" y="4188142"/>
            <a:ext cx="11684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D9488"/>
                </a:solidFill>
                <a:latin typeface="Arial"/>
                <a:ea typeface="Microsoft YaHei"/>
                <a:cs typeface="Arial"/>
              </a:rPr>
              <a:t>Self-Growth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701540" y="4553902"/>
            <a:ext cx="202191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记忆网络 + 反馈系统 + APE 自动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701540" y="4782502"/>
            <a:ext cx="19099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Prompt 优化 + LoRA 微调管线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701540" y="5011102"/>
            <a:ext cx="1006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核心差异化能力</a:t>
            </a:r>
          </a:p>
        </p:txBody>
      </p:sp>
      <p:sp>
        <p:nvSpPr>
          <p:cNvPr id="37" name="Rectangle 37"/>
          <p:cNvSpPr/>
          <p:nvPr/>
        </p:nvSpPr>
        <p:spPr>
          <a:xfrm>
            <a:off x="6762750" y="4143375"/>
            <a:ext cx="171450" cy="171450"/>
          </a:xfrm>
          <a:prstGeom prst="roundRect">
            <a:avLst>
              <a:gd name="adj" fmla="val 16667"/>
            </a:avLst>
          </a:prstGeom>
          <a:solidFill>
            <a:srgbClr val="00BFA5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6780240" y="4187666"/>
            <a:ext cx="13646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核</a:t>
            </a:r>
          </a:p>
        </p:txBody>
      </p:sp>
      <p:sp>
        <p:nvSpPr>
          <p:cNvPr id="39" name="Rectangle 39"/>
          <p:cNvSpPr/>
          <p:nvPr/>
        </p:nvSpPr>
        <p:spPr>
          <a:xfrm>
            <a:off x="8286750" y="3905250"/>
            <a:ext cx="3333750" cy="2286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40" name="Rectangle 40"/>
          <p:cNvSpPr/>
          <p:nvPr/>
        </p:nvSpPr>
        <p:spPr>
          <a:xfrm>
            <a:off x="8286750" y="3905250"/>
            <a:ext cx="3333750" cy="38100"/>
          </a:xfrm>
          <a:prstGeom prst="roundRect">
            <a:avLst>
              <a:gd name="adj" fmla="val 50000"/>
            </a:avLst>
          </a:prstGeom>
          <a:solidFill>
            <a:srgbClr val="7C4DFF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8555355" y="4188142"/>
            <a:ext cx="149922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ReAct Reasoning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559165" y="4553902"/>
            <a:ext cx="19029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思考-行动-观察 智能推理循环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559165" y="4782502"/>
            <a:ext cx="19869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自主调用分析工具、知识检索、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559165" y="5011102"/>
            <a:ext cx="15668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代码执行等完成复杂任务</a:t>
            </a:r>
          </a:p>
        </p:txBody>
      </p:sp>
      <p:sp>
        <p:nvSpPr>
          <p:cNvPr id="45" name="Rectangle 45"/>
          <p:cNvSpPr/>
          <p:nvPr/>
        </p:nvSpPr>
        <p:spPr>
          <a:xfrm>
            <a:off x="0" y="6762750"/>
            <a:ext cx="12192000" cy="95250"/>
          </a:xfrm>
          <a:prstGeom prst="rect">
            <a:avLst/>
          </a:prstGeom>
          <a:solidFill>
            <a:srgbClr val="1565C0">
              <a:alpha val="8000"/>
            </a:srgbClr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561022" y="6626066"/>
            <a:ext cx="114859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Research Agent · P03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280035"/>
            <a:ext cx="158076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系统架构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7143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00BFA5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6260" y="899160"/>
            <a:ext cx="37109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四层松耦合架构设计，各层职责清晰，模块化可扩展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333500"/>
            <a:ext cx="11049000" cy="666750"/>
          </a:xfrm>
          <a:prstGeom prst="roundRect">
            <a:avLst>
              <a:gd name="adj" fmla="val 11429"/>
            </a:avLst>
          </a:prstGeom>
          <a:solidFill>
            <a:srgbClr val="1565C0">
              <a:alpha val="8000"/>
            </a:srgbClr>
          </a:solidFill>
          <a:ln w="9525">
            <a:solidFill>
              <a:srgbClr val="1565C0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1333500"/>
            <a:ext cx="38100" cy="66675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46760" y="1489710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客户端层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429000" y="1457325"/>
            <a:ext cx="123825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1565C0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3606689" y="1561624"/>
            <a:ext cx="88287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NiceGUI (Web)</a:t>
            </a:r>
          </a:p>
        </p:txBody>
      </p:sp>
      <p:sp>
        <p:nvSpPr>
          <p:cNvPr id="12" name="Rectangle 12"/>
          <p:cNvSpPr/>
          <p:nvPr/>
        </p:nvSpPr>
        <p:spPr>
          <a:xfrm>
            <a:off x="4857750" y="1457325"/>
            <a:ext cx="104775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1565C0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5024699" y="1561624"/>
            <a:ext cx="71385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REST Client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096000" y="1457325"/>
            <a:ext cx="104775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1565C0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285702" y="1561624"/>
            <a:ext cx="6683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Mobile App</a:t>
            </a:r>
          </a:p>
        </p:txBody>
      </p:sp>
      <p:sp>
        <p:nvSpPr>
          <p:cNvPr id="16" name="Freeform 16"/>
          <p:cNvSpPr/>
          <p:nvPr/>
        </p:nvSpPr>
        <p:spPr>
          <a:xfrm>
            <a:off x="6096000" y="2000250"/>
            <a:ext cx="9525" cy="190500"/>
          </a:xfrm>
          <a:custGeom>
            <a:avLst/>
            <a:gdLst/>
            <a:ahLst/>
            <a:cxnLst/>
            <a:rect l="l" t="t" r="r" b="b"/>
            <a:pathLst>
              <a:path w="952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solidFill>
            <a:srgbClr val="000000"/>
          </a:solidFill>
          <a:ln w="19050">
            <a:solidFill>
              <a:srgbClr val="94A3B8"/>
            </a:solidFill>
          </a:ln>
        </p:spPr>
      </p:sp>
      <p:sp>
        <p:nvSpPr>
          <p:cNvPr id="17" name="Polygon 17"/>
          <p:cNvSpPr/>
          <p:nvPr/>
        </p:nvSpPr>
        <p:spPr>
          <a:xfrm>
            <a:off x="6048375" y="217170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47625" y="95250"/>
                </a:lnTo>
                <a:lnTo>
                  <a:pt x="95250" y="0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571500" y="2286000"/>
            <a:ext cx="11049000" cy="666750"/>
          </a:xfrm>
          <a:prstGeom prst="roundRect">
            <a:avLst>
              <a:gd name="adj" fmla="val 11429"/>
            </a:avLst>
          </a:prstGeom>
          <a:solidFill>
            <a:srgbClr val="00BFA5">
              <a:alpha val="8000"/>
            </a:srgbClr>
          </a:solidFill>
          <a:ln w="9525">
            <a:solidFill>
              <a:srgbClr val="00BFA5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571500" y="2286000"/>
            <a:ext cx="38100" cy="666750"/>
          </a:xfrm>
          <a:prstGeom prst="rect">
            <a:avLst/>
          </a:prstGeom>
          <a:solidFill>
            <a:srgbClr val="00BFA5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746760" y="2442210"/>
            <a:ext cx="82017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D9488"/>
                </a:solidFill>
                <a:latin typeface="Arial"/>
                <a:ea typeface="Microsoft YaHei"/>
                <a:cs typeface="Arial"/>
              </a:rPr>
              <a:t>API 网关层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416618" y="2514124"/>
            <a:ext cx="457533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FastAPI — Chat / Analysis / Knowledge / Settings / Feedback 等 REST 接口</a:t>
            </a:r>
          </a:p>
        </p:txBody>
      </p:sp>
      <p:sp>
        <p:nvSpPr>
          <p:cNvPr id="22" name="Freeform 22"/>
          <p:cNvSpPr/>
          <p:nvPr/>
        </p:nvSpPr>
        <p:spPr>
          <a:xfrm>
            <a:off x="6096000" y="2952750"/>
            <a:ext cx="9525" cy="190500"/>
          </a:xfrm>
          <a:custGeom>
            <a:avLst/>
            <a:gdLst/>
            <a:ahLst/>
            <a:cxnLst/>
            <a:rect l="l" t="t" r="r" b="b"/>
            <a:pathLst>
              <a:path w="952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solidFill>
            <a:srgbClr val="000000"/>
          </a:solidFill>
          <a:ln w="19050">
            <a:solidFill>
              <a:srgbClr val="94A3B8"/>
            </a:solidFill>
          </a:ln>
        </p:spPr>
      </p:sp>
      <p:sp>
        <p:nvSpPr>
          <p:cNvPr id="23" name="Polygon 23"/>
          <p:cNvSpPr/>
          <p:nvPr/>
        </p:nvSpPr>
        <p:spPr>
          <a:xfrm>
            <a:off x="6048375" y="312420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47625" y="95250"/>
                </a:lnTo>
                <a:lnTo>
                  <a:pt x="95250" y="0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571500" y="3238500"/>
            <a:ext cx="5334000" cy="666750"/>
          </a:xfrm>
          <a:prstGeom prst="roundRect">
            <a:avLst>
              <a:gd name="adj" fmla="val 11429"/>
            </a:avLst>
          </a:prstGeom>
          <a:solidFill>
            <a:srgbClr val="7C4DFF">
              <a:alpha val="8000"/>
            </a:srgbClr>
          </a:solidFill>
          <a:ln w="9525">
            <a:solidFill>
              <a:srgbClr val="7C4DFF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571500" y="3238500"/>
            <a:ext cx="38100" cy="666750"/>
          </a:xfrm>
          <a:prstGeom prst="rect">
            <a:avLst/>
          </a:prstGeom>
          <a:solidFill>
            <a:srgbClr val="7C4DFF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46760" y="3394710"/>
            <a:ext cx="87058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5B21B6"/>
                </a:solidFill>
                <a:latin typeface="Arial"/>
                <a:ea typeface="Microsoft YaHei"/>
                <a:cs typeface="Arial"/>
              </a:rPr>
              <a:t>核心引擎层</a:t>
            </a:r>
          </a:p>
        </p:txBody>
      </p:sp>
      <p:sp>
        <p:nvSpPr>
          <p:cNvPr id="27" name="Rectangle 27"/>
          <p:cNvSpPr/>
          <p:nvPr/>
        </p:nvSpPr>
        <p:spPr>
          <a:xfrm>
            <a:off x="2381250" y="3362325"/>
            <a:ext cx="114300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7C4DFF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2512266" y="3474720"/>
            <a:ext cx="88096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C4DFF"/>
                </a:solidFill>
                <a:latin typeface="Arial"/>
                <a:ea typeface="Microsoft YaHei"/>
                <a:cs typeface="Arial"/>
              </a:rPr>
              <a:t>ResearchAgent</a:t>
            </a:r>
          </a:p>
        </p:txBody>
      </p:sp>
      <p:sp>
        <p:nvSpPr>
          <p:cNvPr id="29" name="Rectangle 29"/>
          <p:cNvSpPr/>
          <p:nvPr/>
        </p:nvSpPr>
        <p:spPr>
          <a:xfrm>
            <a:off x="3714750" y="3362325"/>
            <a:ext cx="104775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7C4DFF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3840147" y="3474720"/>
            <a:ext cx="79695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C4DFF"/>
                </a:solidFill>
                <a:latin typeface="Arial"/>
                <a:ea typeface="Microsoft YaHei"/>
                <a:cs typeface="Arial"/>
              </a:rPr>
              <a:t>MemoryStore</a:t>
            </a:r>
          </a:p>
        </p:txBody>
      </p:sp>
      <p:sp>
        <p:nvSpPr>
          <p:cNvPr id="31" name="Rectangle 31"/>
          <p:cNvSpPr/>
          <p:nvPr/>
        </p:nvSpPr>
        <p:spPr>
          <a:xfrm>
            <a:off x="4953000" y="3362325"/>
            <a:ext cx="85725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7C4DFF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5007150" y="3474720"/>
            <a:ext cx="74895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C4DFF"/>
                </a:solidFill>
                <a:latin typeface="Arial"/>
                <a:ea typeface="Microsoft YaHei"/>
                <a:cs typeface="Arial"/>
              </a:rPr>
              <a:t>CodeSandbox</a:t>
            </a:r>
          </a:p>
        </p:txBody>
      </p:sp>
      <p:sp>
        <p:nvSpPr>
          <p:cNvPr id="33" name="Rectangle 33"/>
          <p:cNvSpPr/>
          <p:nvPr/>
        </p:nvSpPr>
        <p:spPr>
          <a:xfrm>
            <a:off x="6286500" y="3238500"/>
            <a:ext cx="5334000" cy="666750"/>
          </a:xfrm>
          <a:prstGeom prst="roundRect">
            <a:avLst>
              <a:gd name="adj" fmla="val 11429"/>
            </a:avLst>
          </a:prstGeom>
          <a:solidFill>
            <a:srgbClr val="1565C0">
              <a:alpha val="6000"/>
            </a:srgbClr>
          </a:solidFill>
          <a:ln w="9525">
            <a:solidFill>
              <a:srgbClr val="1565C0"/>
            </a:solidFill>
          </a:ln>
        </p:spPr>
      </p:sp>
      <p:sp>
        <p:nvSpPr>
          <p:cNvPr id="34" name="Rectangle 34"/>
          <p:cNvSpPr/>
          <p:nvPr/>
        </p:nvSpPr>
        <p:spPr>
          <a:xfrm>
            <a:off x="6286500" y="3238500"/>
            <a:ext cx="38100" cy="66675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6461760" y="3394710"/>
            <a:ext cx="5345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服务层</a:t>
            </a:r>
          </a:p>
        </p:txBody>
      </p:sp>
      <p:sp>
        <p:nvSpPr>
          <p:cNvPr id="36" name="Rectangle 36"/>
          <p:cNvSpPr/>
          <p:nvPr/>
        </p:nvSpPr>
        <p:spPr>
          <a:xfrm>
            <a:off x="7715250" y="3362325"/>
            <a:ext cx="95250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1565C0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7853029" y="3474720"/>
            <a:ext cx="67694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LLM Router</a:t>
            </a:r>
          </a:p>
        </p:txBody>
      </p:sp>
      <p:sp>
        <p:nvSpPr>
          <p:cNvPr id="38" name="Rectangle 38"/>
          <p:cNvSpPr/>
          <p:nvPr/>
        </p:nvSpPr>
        <p:spPr>
          <a:xfrm>
            <a:off x="8810625" y="3362325"/>
            <a:ext cx="95250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1565C0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9041416" y="3474720"/>
            <a:ext cx="49091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Analysis</a:t>
            </a:r>
          </a:p>
        </p:txBody>
      </p:sp>
      <p:sp>
        <p:nvSpPr>
          <p:cNvPr id="40" name="Rectangle 40"/>
          <p:cNvSpPr/>
          <p:nvPr/>
        </p:nvSpPr>
        <p:spPr>
          <a:xfrm>
            <a:off x="9906000" y="3362325"/>
            <a:ext cx="76200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1565C0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10176558" y="3474720"/>
            <a:ext cx="2208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RAG</a:t>
            </a:r>
          </a:p>
        </p:txBody>
      </p:sp>
      <p:sp>
        <p:nvSpPr>
          <p:cNvPr id="42" name="Rectangle 42"/>
          <p:cNvSpPr/>
          <p:nvPr/>
        </p:nvSpPr>
        <p:spPr>
          <a:xfrm>
            <a:off x="10810875" y="3362325"/>
            <a:ext cx="714375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1565C0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10953845" y="3474720"/>
            <a:ext cx="418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Report</a:t>
            </a:r>
          </a:p>
        </p:txBody>
      </p:sp>
      <p:sp>
        <p:nvSpPr>
          <p:cNvPr id="44" name="Freeform 44"/>
          <p:cNvSpPr/>
          <p:nvPr/>
        </p:nvSpPr>
        <p:spPr>
          <a:xfrm>
            <a:off x="6096000" y="3905250"/>
            <a:ext cx="9525" cy="190500"/>
          </a:xfrm>
          <a:custGeom>
            <a:avLst/>
            <a:gdLst/>
            <a:ahLst/>
            <a:cxnLst/>
            <a:rect l="l" t="t" r="r" b="b"/>
            <a:pathLst>
              <a:path w="952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solidFill>
            <a:srgbClr val="000000"/>
          </a:solidFill>
          <a:ln w="19050">
            <a:solidFill>
              <a:srgbClr val="94A3B8"/>
            </a:solidFill>
          </a:ln>
        </p:spPr>
      </p:sp>
      <p:sp>
        <p:nvSpPr>
          <p:cNvPr id="45" name="Polygon 45"/>
          <p:cNvSpPr/>
          <p:nvPr/>
        </p:nvSpPr>
        <p:spPr>
          <a:xfrm>
            <a:off x="6048375" y="407670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47625" y="95250"/>
                </a:lnTo>
                <a:lnTo>
                  <a:pt x="95250" y="0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</p:spPr>
      </p:sp>
      <p:sp>
        <p:nvSpPr>
          <p:cNvPr id="46" name="Rectangle 46"/>
          <p:cNvSpPr/>
          <p:nvPr/>
        </p:nvSpPr>
        <p:spPr>
          <a:xfrm>
            <a:off x="571500" y="4191000"/>
            <a:ext cx="11049000" cy="666750"/>
          </a:xfrm>
          <a:prstGeom prst="roundRect">
            <a:avLst>
              <a:gd name="adj" fmla="val 11429"/>
            </a:avLst>
          </a:prstGeom>
          <a:solidFill>
            <a:srgbClr val="1E293B">
              <a:alpha val="5000"/>
            </a:srgbClr>
          </a:solidFill>
          <a:ln w="9525">
            <a:solidFill>
              <a:srgbClr val="1E293B"/>
            </a:solidFill>
          </a:ln>
        </p:spPr>
      </p:sp>
      <p:sp>
        <p:nvSpPr>
          <p:cNvPr id="47" name="Rectangle 47"/>
          <p:cNvSpPr/>
          <p:nvPr/>
        </p:nvSpPr>
        <p:spPr>
          <a:xfrm>
            <a:off x="571500" y="4191000"/>
            <a:ext cx="38100" cy="66675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746760" y="4347210"/>
            <a:ext cx="87058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数据存储层</a:t>
            </a:r>
          </a:p>
        </p:txBody>
      </p:sp>
      <p:sp>
        <p:nvSpPr>
          <p:cNvPr id="49" name="Rectangle 49"/>
          <p:cNvSpPr/>
          <p:nvPr/>
        </p:nvSpPr>
        <p:spPr>
          <a:xfrm>
            <a:off x="3429000" y="4314825"/>
            <a:ext cx="123825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64748B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3379160" y="4419124"/>
            <a:ext cx="133792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SQLite / PostgreSQL</a:t>
            </a:r>
          </a:p>
        </p:txBody>
      </p:sp>
      <p:sp>
        <p:nvSpPr>
          <p:cNvPr id="51" name="Rectangle 51"/>
          <p:cNvSpPr/>
          <p:nvPr/>
        </p:nvSpPr>
        <p:spPr>
          <a:xfrm>
            <a:off x="4857750" y="4314825"/>
            <a:ext cx="114300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64748B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4903303" y="4419124"/>
            <a:ext cx="105189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ChromaDB 向量库</a:t>
            </a:r>
          </a:p>
        </p:txBody>
      </p:sp>
      <p:sp>
        <p:nvSpPr>
          <p:cNvPr id="53" name="Rectangle 53"/>
          <p:cNvSpPr/>
          <p:nvPr/>
        </p:nvSpPr>
        <p:spPr>
          <a:xfrm>
            <a:off x="6191250" y="4314825"/>
            <a:ext cx="95250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64748B"/>
            </a:solidFill>
          </a:ln>
        </p:spPr>
      </p:sp>
      <p:sp>
        <p:nvSpPr>
          <p:cNvPr id="54" name="TextBox 54"/>
          <p:cNvSpPr txBox="1"/>
          <p:nvPr/>
        </p:nvSpPr>
        <p:spPr>
          <a:xfrm>
            <a:off x="6265069" y="4419124"/>
            <a:ext cx="8048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本地文件存储</a:t>
            </a:r>
          </a:p>
        </p:txBody>
      </p:sp>
      <p:sp>
        <p:nvSpPr>
          <p:cNvPr id="55" name="Rectangle 55"/>
          <p:cNvSpPr/>
          <p:nvPr/>
        </p:nvSpPr>
        <p:spPr>
          <a:xfrm>
            <a:off x="571500" y="5334000"/>
            <a:ext cx="11049000" cy="762000"/>
          </a:xfrm>
          <a:prstGeom prst="roundRect">
            <a:avLst>
              <a:gd name="adj" fmla="val 15000"/>
            </a:avLst>
          </a:prstGeom>
          <a:solidFill>
            <a:srgbClr val="F0FDF4"/>
          </a:solidFill>
          <a:ln w="9525">
            <a:solidFill>
              <a:srgbClr val="10B981"/>
            </a:solidFill>
          </a:ln>
        </p:spPr>
      </p:sp>
      <p:sp>
        <p:nvSpPr>
          <p:cNvPr id="56" name="TextBox 56"/>
          <p:cNvSpPr txBox="1"/>
          <p:nvPr/>
        </p:nvSpPr>
        <p:spPr>
          <a:xfrm>
            <a:off x="746760" y="5490210"/>
            <a:ext cx="87058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59669"/>
                </a:solidFill>
                <a:latin typeface="Arial"/>
                <a:ea typeface="Microsoft YaHei"/>
                <a:cs typeface="Arial"/>
              </a:rPr>
              <a:t>核心技术栈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748665" y="5792152"/>
            <a:ext cx="521431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FastAPI / SQLAlchemy / LangChain / ChromaDB / PEFT-LoRA / NiceGUI / Docker</a:t>
            </a:r>
          </a:p>
        </p:txBody>
      </p:sp>
      <p:sp>
        <p:nvSpPr>
          <p:cNvPr id="58" name="Rectangle 58"/>
          <p:cNvSpPr/>
          <p:nvPr/>
        </p:nvSpPr>
        <p:spPr>
          <a:xfrm>
            <a:off x="0" y="6762750"/>
            <a:ext cx="12192000" cy="95250"/>
          </a:xfrm>
          <a:prstGeom prst="rect">
            <a:avLst/>
          </a:prstGeom>
          <a:solidFill>
            <a:srgbClr val="1565C0">
              <a:alpha val="8000"/>
            </a:srgbClr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561022" y="6626066"/>
            <a:ext cx="114859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Research Agent · P04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280035"/>
            <a:ext cx="233686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专业数据分析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7143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00BFA5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6260" y="899160"/>
            <a:ext cx="37109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面向地质与水文监测领域的全方位专业数据分析能力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333500"/>
            <a:ext cx="5048250" cy="904875"/>
          </a:xfrm>
          <a:prstGeom prst="roundRect">
            <a:avLst>
              <a:gd name="adj" fmla="val 10526"/>
            </a:avLst>
          </a:prstGeom>
          <a:solidFill>
            <a:srgbClr val="F5F7FA"/>
          </a:solidFill>
          <a:ln w="9525">
            <a:solidFill>
              <a:srgbClr val="E2E8F0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1333500"/>
            <a:ext cx="38100" cy="904875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92480" y="1492568"/>
            <a:ext cx="126294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GNSS 位移分析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96290" y="1791652"/>
            <a:ext cx="31700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时间序列分解 / 突变检测 / 速率估计 / 趋势项提取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572250" y="1333500"/>
            <a:ext cx="5048250" cy="904875"/>
          </a:xfrm>
          <a:prstGeom prst="roundRect">
            <a:avLst>
              <a:gd name="adj" fmla="val 10526"/>
            </a:avLst>
          </a:prstGeom>
          <a:solidFill>
            <a:srgbClr val="F5F7FA"/>
          </a:solidFill>
          <a:ln w="9525">
            <a:solidFill>
              <a:srgbClr val="E2E8F0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6572250" y="1333500"/>
            <a:ext cx="38100" cy="904875"/>
          </a:xfrm>
          <a:prstGeom prst="rect">
            <a:avLst/>
          </a:prstGeom>
          <a:solidFill>
            <a:srgbClr val="00BFA5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6793230" y="1492568"/>
            <a:ext cx="131965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D9488"/>
                </a:solidFill>
                <a:latin typeface="Arial"/>
                <a:ea typeface="Microsoft YaHei"/>
                <a:cs typeface="Arial"/>
              </a:rPr>
              <a:t>InSAR 形变分析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797040" y="1791652"/>
            <a:ext cx="331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形变场插值 / 时序累积形变 / 形变速率图 / 异常识别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71500" y="2524125"/>
            <a:ext cx="5048250" cy="904875"/>
          </a:xfrm>
          <a:prstGeom prst="roundRect">
            <a:avLst>
              <a:gd name="adj" fmla="val 10526"/>
            </a:avLst>
          </a:prstGeom>
          <a:solidFill>
            <a:srgbClr val="F5F7FA"/>
          </a:solidFill>
          <a:ln w="9525">
            <a:solidFill>
              <a:srgbClr val="E2E8F0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571500" y="2524125"/>
            <a:ext cx="38100" cy="904875"/>
          </a:xfrm>
          <a:prstGeom prst="rect">
            <a:avLst/>
          </a:prstGeom>
          <a:solidFill>
            <a:srgbClr val="7C4DFF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92480" y="2683192"/>
            <a:ext cx="11684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5B21B6"/>
                </a:solidFill>
                <a:latin typeface="Arial"/>
                <a:ea typeface="Microsoft YaHei"/>
                <a:cs typeface="Arial"/>
              </a:rPr>
              <a:t>降雨数据分析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96290" y="2982278"/>
            <a:ext cx="331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累计降雨量 / 降雨强度 / 重现期估算 / 极端事件识别</a:t>
            </a:r>
          </a:p>
        </p:txBody>
      </p:sp>
      <p:sp>
        <p:nvSpPr>
          <p:cNvPr id="19" name="Rectangle 19"/>
          <p:cNvSpPr/>
          <p:nvPr/>
        </p:nvSpPr>
        <p:spPr>
          <a:xfrm>
            <a:off x="6572250" y="2524125"/>
            <a:ext cx="5048250" cy="904875"/>
          </a:xfrm>
          <a:prstGeom prst="roundRect">
            <a:avLst>
              <a:gd name="adj" fmla="val 10526"/>
            </a:avLst>
          </a:prstGeom>
          <a:solidFill>
            <a:srgbClr val="F5F7FA"/>
          </a:solidFill>
          <a:ln w="9525">
            <a:solidFill>
              <a:srgbClr val="E2E8F0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6572250" y="2524125"/>
            <a:ext cx="38100" cy="904875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6793230" y="2683192"/>
            <a:ext cx="11684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地下水位分析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797040" y="2982278"/>
            <a:ext cx="328907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水位动态曲线 / 季节性变化 / 与降雨水位相关性分析</a:t>
            </a:r>
          </a:p>
        </p:txBody>
      </p:sp>
      <p:sp>
        <p:nvSpPr>
          <p:cNvPr id="23" name="Rectangle 23"/>
          <p:cNvSpPr/>
          <p:nvPr/>
        </p:nvSpPr>
        <p:spPr>
          <a:xfrm>
            <a:off x="571500" y="3714750"/>
            <a:ext cx="5048250" cy="904875"/>
          </a:xfrm>
          <a:prstGeom prst="roundRect">
            <a:avLst>
              <a:gd name="adj" fmla="val 10526"/>
            </a:avLst>
          </a:prstGeom>
          <a:solidFill>
            <a:srgbClr val="F5F7FA"/>
          </a:solidFill>
          <a:ln w="9525">
            <a:solidFill>
              <a:srgbClr val="E2E8F0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571500" y="3714750"/>
            <a:ext cx="38100" cy="904875"/>
          </a:xfrm>
          <a:prstGeom prst="rect">
            <a:avLst/>
          </a:prstGeom>
          <a:solidFill>
            <a:srgbClr val="00BFA5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92480" y="3873818"/>
            <a:ext cx="13574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D9488"/>
                </a:solidFill>
                <a:latin typeface="Arial"/>
                <a:ea typeface="Microsoft YaHei"/>
                <a:cs typeface="Arial"/>
              </a:rPr>
              <a:t>孔隙水压力分析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96290" y="4172902"/>
            <a:ext cx="322607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孔压变化趋势 / 超静孔压消散 / 降雨-孔压响应分析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572250" y="3714750"/>
            <a:ext cx="5048250" cy="904875"/>
          </a:xfrm>
          <a:prstGeom prst="roundRect">
            <a:avLst>
              <a:gd name="adj" fmla="val 10526"/>
            </a:avLst>
          </a:prstGeom>
          <a:solidFill>
            <a:srgbClr val="F0FDFA"/>
          </a:solidFill>
          <a:ln w="9525">
            <a:solidFill>
              <a:srgbClr val="00BFA5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6572250" y="3714750"/>
            <a:ext cx="38100" cy="904875"/>
          </a:xfrm>
          <a:prstGeom prst="rect">
            <a:avLst/>
          </a:prstGeom>
          <a:solidFill>
            <a:srgbClr val="00BFA5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793230" y="3873818"/>
            <a:ext cx="11684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D9488"/>
                </a:solidFill>
                <a:latin typeface="Arial"/>
                <a:ea typeface="Microsoft YaHei"/>
                <a:cs typeface="Arial"/>
              </a:rPr>
              <a:t>多源关联分析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797040" y="4172902"/>
            <a:ext cx="318406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降雨 vs 位移 vs 水位的交叉相关性 / 综合预警研判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58165" y="5030152"/>
            <a:ext cx="45212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支持 CSV / Excel / GeoJSON 等多格式数据导入，自然语言驱动分析流程</a:t>
            </a:r>
          </a:p>
        </p:txBody>
      </p:sp>
      <p:sp>
        <p:nvSpPr>
          <p:cNvPr id="32" name="Rectangle 32"/>
          <p:cNvSpPr/>
          <p:nvPr/>
        </p:nvSpPr>
        <p:spPr>
          <a:xfrm>
            <a:off x="0" y="6762750"/>
            <a:ext cx="12192000" cy="95250"/>
          </a:xfrm>
          <a:prstGeom prst="rect">
            <a:avLst/>
          </a:prstGeom>
          <a:solidFill>
            <a:srgbClr val="1565C0">
              <a:alpha val="8000"/>
            </a:srgbClr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561022" y="6626066"/>
            <a:ext cx="114859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Research Agent · P05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280035"/>
            <a:ext cx="231796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RAG 知识检索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7143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00BFA5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6260" y="899160"/>
            <a:ext cx="43510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基于语义向量的专业知识库，秒级检索规范、文献与历史案例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333500"/>
            <a:ext cx="2667000" cy="762000"/>
          </a:xfrm>
          <a:prstGeom prst="roundRect">
            <a:avLst>
              <a:gd name="adj" fmla="val 12500"/>
            </a:avLst>
          </a:prstGeom>
          <a:solidFill>
            <a:srgbClr val="1565C0">
              <a:alpha val="8000"/>
            </a:srgbClr>
          </a:solidFill>
          <a:ln w="9525">
            <a:solidFill>
              <a:srgbClr val="1565C0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553718" y="1584960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文档上传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60491" y="1855470"/>
            <a:ext cx="128901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PDF / TXT / MD / Excel</a:t>
            </a:r>
          </a:p>
        </p:txBody>
      </p:sp>
      <p:sp>
        <p:nvSpPr>
          <p:cNvPr id="10" name="Freeform 10"/>
          <p:cNvSpPr/>
          <p:nvPr/>
        </p:nvSpPr>
        <p:spPr>
          <a:xfrm>
            <a:off x="3238500" y="1714500"/>
            <a:ext cx="476250" cy="9525"/>
          </a:xfrm>
          <a:custGeom>
            <a:avLst/>
            <a:gdLst/>
            <a:ahLst/>
            <a:cxnLst/>
            <a:rect l="l" t="t" r="r" b="b"/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solidFill>
            <a:srgbClr val="000000"/>
          </a:solidFill>
          <a:ln w="19050">
            <a:solidFill>
              <a:srgbClr val="94A3B8"/>
            </a:solidFill>
          </a:ln>
        </p:spPr>
      </p:sp>
      <p:sp>
        <p:nvSpPr>
          <p:cNvPr id="11" name="Polygon 11"/>
          <p:cNvSpPr/>
          <p:nvPr/>
        </p:nvSpPr>
        <p:spPr>
          <a:xfrm>
            <a:off x="3667125" y="166687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47625"/>
                </a:lnTo>
                <a:lnTo>
                  <a:pt x="0" y="95250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3810000" y="1333500"/>
            <a:ext cx="2667000" cy="762000"/>
          </a:xfrm>
          <a:prstGeom prst="roundRect">
            <a:avLst>
              <a:gd name="adj" fmla="val 12500"/>
            </a:avLst>
          </a:prstGeom>
          <a:solidFill>
            <a:srgbClr val="00BFA5">
              <a:alpha val="8000"/>
            </a:srgbClr>
          </a:solidFill>
          <a:ln w="9525">
            <a:solidFill>
              <a:srgbClr val="00BFA5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4792218" y="1584960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D9488"/>
                </a:solidFill>
                <a:latin typeface="Arial"/>
                <a:ea typeface="Microsoft YaHei"/>
                <a:cs typeface="Arial"/>
              </a:rPr>
              <a:t>智能分块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522994" y="1855470"/>
            <a:ext cx="124101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语义分块 + 元数据标注</a:t>
            </a:r>
          </a:p>
        </p:txBody>
      </p:sp>
      <p:sp>
        <p:nvSpPr>
          <p:cNvPr id="15" name="Freeform 15"/>
          <p:cNvSpPr/>
          <p:nvPr/>
        </p:nvSpPr>
        <p:spPr>
          <a:xfrm>
            <a:off x="6477000" y="1714500"/>
            <a:ext cx="476250" cy="9525"/>
          </a:xfrm>
          <a:custGeom>
            <a:avLst/>
            <a:gdLst/>
            <a:ahLst/>
            <a:cxnLst/>
            <a:rect l="l" t="t" r="r" b="b"/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solidFill>
            <a:srgbClr val="000000"/>
          </a:solidFill>
          <a:ln w="19050">
            <a:solidFill>
              <a:srgbClr val="94A3B8"/>
            </a:solidFill>
          </a:ln>
        </p:spPr>
      </p:sp>
      <p:sp>
        <p:nvSpPr>
          <p:cNvPr id="16" name="Polygon 16"/>
          <p:cNvSpPr/>
          <p:nvPr/>
        </p:nvSpPr>
        <p:spPr>
          <a:xfrm>
            <a:off x="6905625" y="166687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47625"/>
                </a:lnTo>
                <a:lnTo>
                  <a:pt x="0" y="95250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7048500" y="1333500"/>
            <a:ext cx="2667000" cy="762000"/>
          </a:xfrm>
          <a:prstGeom prst="roundRect">
            <a:avLst>
              <a:gd name="adj" fmla="val 12500"/>
            </a:avLst>
          </a:prstGeom>
          <a:solidFill>
            <a:srgbClr val="7C4DFF">
              <a:alpha val="8000"/>
            </a:srgbClr>
          </a:solidFill>
          <a:ln w="9525">
            <a:solidFill>
              <a:srgbClr val="7C4D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8114728" y="1584960"/>
            <a:ext cx="5345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5B21B6"/>
                </a:solidFill>
                <a:latin typeface="Arial"/>
                <a:ea typeface="Microsoft YaHei"/>
                <a:cs typeface="Arial"/>
              </a:rPr>
              <a:t>向量化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635478" y="1855470"/>
            <a:ext cx="149304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BGE 语义嵌入 -&gt; ChromaDB</a:t>
            </a:r>
          </a:p>
        </p:txBody>
      </p:sp>
      <p:sp>
        <p:nvSpPr>
          <p:cNvPr id="20" name="Freeform 20"/>
          <p:cNvSpPr/>
          <p:nvPr/>
        </p:nvSpPr>
        <p:spPr>
          <a:xfrm>
            <a:off x="8382000" y="2095500"/>
            <a:ext cx="9525" cy="476250"/>
          </a:xfrm>
          <a:custGeom>
            <a:avLst/>
            <a:gdLst/>
            <a:ahLst/>
            <a:cxnLst/>
            <a:rect l="l" t="t" r="r" b="b"/>
            <a:pathLst>
              <a:path w="9525" h="476250">
                <a:moveTo>
                  <a:pt x="0" y="0"/>
                </a:moveTo>
                <a:lnTo>
                  <a:pt x="0" y="476250"/>
                </a:lnTo>
              </a:path>
            </a:pathLst>
          </a:custGeom>
          <a:solidFill>
            <a:srgbClr val="000000"/>
          </a:solidFill>
          <a:ln w="19050">
            <a:solidFill>
              <a:srgbClr val="94A3B8"/>
            </a:solidFill>
          </a:ln>
        </p:spPr>
      </p:sp>
      <p:sp>
        <p:nvSpPr>
          <p:cNvPr id="21" name="Polygon 21"/>
          <p:cNvSpPr/>
          <p:nvPr/>
        </p:nvSpPr>
        <p:spPr>
          <a:xfrm>
            <a:off x="8334375" y="25241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47625" y="95250"/>
                </a:lnTo>
                <a:lnTo>
                  <a:pt x="95250" y="0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7048500" y="2667000"/>
            <a:ext cx="2667000" cy="762000"/>
          </a:xfrm>
          <a:prstGeom prst="roundRect">
            <a:avLst>
              <a:gd name="adj" fmla="val 12500"/>
            </a:avLst>
          </a:prstGeom>
          <a:solidFill>
            <a:srgbClr val="1565C0">
              <a:alpha val="8000"/>
            </a:srgbClr>
          </a:solidFill>
          <a:ln w="9525">
            <a:solidFill>
              <a:srgbClr val="1565C0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7774486" y="2918460"/>
            <a:ext cx="121502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Top-K 语义检索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701486" y="3188970"/>
            <a:ext cx="136102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相似度排序 + 上下文组装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54355" y="3950018"/>
            <a:ext cx="9794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知识库类型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71500" y="4333875"/>
            <a:ext cx="3333750" cy="714375"/>
          </a:xfrm>
          <a:prstGeom prst="roundRect">
            <a:avLst>
              <a:gd name="adj" fmla="val 13333"/>
            </a:avLst>
          </a:prstGeom>
          <a:solidFill>
            <a:srgbClr val="F5F7FA"/>
          </a:solidFill>
          <a:ln w="9525">
            <a:solidFill>
              <a:srgbClr val="E2E8F0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571500" y="4333875"/>
            <a:ext cx="28575" cy="714375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794385" y="4518660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技术规范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97242" y="4800124"/>
            <a:ext cx="18449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行业标准、监测规范、技术导则</a:t>
            </a:r>
          </a:p>
        </p:txBody>
      </p:sp>
      <p:sp>
        <p:nvSpPr>
          <p:cNvPr id="30" name="Rectangle 30"/>
          <p:cNvSpPr/>
          <p:nvPr/>
        </p:nvSpPr>
        <p:spPr>
          <a:xfrm>
            <a:off x="4429125" y="4333875"/>
            <a:ext cx="3333750" cy="714375"/>
          </a:xfrm>
          <a:prstGeom prst="roundRect">
            <a:avLst>
              <a:gd name="adj" fmla="val 13333"/>
            </a:avLst>
          </a:prstGeom>
          <a:solidFill>
            <a:srgbClr val="F5F7FA"/>
          </a:solidFill>
          <a:ln w="9525">
            <a:solidFill>
              <a:srgbClr val="E2E8F0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4429125" y="4333875"/>
            <a:ext cx="28575" cy="714375"/>
          </a:xfrm>
          <a:prstGeom prst="rect">
            <a:avLst/>
          </a:prstGeom>
          <a:solidFill>
            <a:srgbClr val="00BFA5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4652010" y="4518660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科研文献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654868" y="4800124"/>
            <a:ext cx="18449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学术论文、研究报告、技术文献</a:t>
            </a:r>
          </a:p>
        </p:txBody>
      </p:sp>
      <p:sp>
        <p:nvSpPr>
          <p:cNvPr id="34" name="Rectangle 34"/>
          <p:cNvSpPr/>
          <p:nvPr/>
        </p:nvSpPr>
        <p:spPr>
          <a:xfrm>
            <a:off x="8286750" y="4333875"/>
            <a:ext cx="3333750" cy="714375"/>
          </a:xfrm>
          <a:prstGeom prst="roundRect">
            <a:avLst>
              <a:gd name="adj" fmla="val 13333"/>
            </a:avLst>
          </a:prstGeom>
          <a:solidFill>
            <a:srgbClr val="F5F7FA"/>
          </a:solidFill>
          <a:ln w="9525">
            <a:solidFill>
              <a:srgbClr val="E2E8F0"/>
            </a:solidFill>
          </a:ln>
        </p:spPr>
      </p:sp>
      <p:sp>
        <p:nvSpPr>
          <p:cNvPr id="35" name="Rectangle 35"/>
          <p:cNvSpPr/>
          <p:nvPr/>
        </p:nvSpPr>
        <p:spPr>
          <a:xfrm>
            <a:off x="8286750" y="4333875"/>
            <a:ext cx="28575" cy="714375"/>
          </a:xfrm>
          <a:prstGeom prst="rect">
            <a:avLst/>
          </a:prstGeom>
          <a:solidFill>
            <a:srgbClr val="7C4DFF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8509635" y="4518660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历史案例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512492" y="4800124"/>
            <a:ext cx="19750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历史监测数据、工程事故案例分析</a:t>
            </a:r>
          </a:p>
        </p:txBody>
      </p:sp>
      <p:sp>
        <p:nvSpPr>
          <p:cNvPr id="38" name="Rectangle 38"/>
          <p:cNvSpPr/>
          <p:nvPr/>
        </p:nvSpPr>
        <p:spPr>
          <a:xfrm>
            <a:off x="0" y="6762750"/>
            <a:ext cx="12192000" cy="95250"/>
          </a:xfrm>
          <a:prstGeom prst="rect">
            <a:avLst/>
          </a:prstGeom>
          <a:solidFill>
            <a:srgbClr val="1565C0">
              <a:alpha val="8000"/>
            </a:srgbClr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561022" y="6626066"/>
            <a:ext cx="114859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Research Agent · P06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280035"/>
            <a:ext cx="233686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自动报告生成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7143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00BFA5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6260" y="899160"/>
            <a:ext cx="35509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一键生成多格式专业监测报告，内置丰富图表引擎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333500"/>
            <a:ext cx="3333750" cy="257175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1333500"/>
            <a:ext cx="3333750" cy="47625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694259" y="1743075"/>
            <a:ext cx="108823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多格式输出</a:t>
            </a:r>
          </a:p>
        </p:txBody>
      </p:sp>
      <p:sp>
        <p:nvSpPr>
          <p:cNvPr id="10" name="Rectangle 10"/>
          <p:cNvSpPr/>
          <p:nvPr/>
        </p:nvSpPr>
        <p:spPr>
          <a:xfrm>
            <a:off x="952500" y="2143125"/>
            <a:ext cx="2571750" cy="400050"/>
          </a:xfrm>
          <a:prstGeom prst="roundRect">
            <a:avLst>
              <a:gd name="adj" fmla="val 14286"/>
            </a:avLst>
          </a:prstGeom>
          <a:solidFill>
            <a:srgbClr val="1565C0">
              <a:alpha val="8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496497" y="2278856"/>
            <a:ext cx="148375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HTML 在线预览与分享</a:t>
            </a:r>
          </a:p>
        </p:txBody>
      </p:sp>
      <p:sp>
        <p:nvSpPr>
          <p:cNvPr id="12" name="Rectangle 12"/>
          <p:cNvSpPr/>
          <p:nvPr/>
        </p:nvSpPr>
        <p:spPr>
          <a:xfrm>
            <a:off x="952500" y="2638425"/>
            <a:ext cx="2571750" cy="400050"/>
          </a:xfrm>
          <a:prstGeom prst="roundRect">
            <a:avLst>
              <a:gd name="adj" fmla="val 14286"/>
            </a:avLst>
          </a:prstGeom>
          <a:solidFill>
            <a:srgbClr val="00BFA5">
              <a:alpha val="8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443990" y="2774156"/>
            <a:ext cx="158877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0D9488"/>
                </a:solidFill>
                <a:latin typeface="Arial"/>
                <a:ea typeface="Microsoft YaHei"/>
                <a:cs typeface="Arial"/>
              </a:rPr>
              <a:t>DOCX Word 可编辑版本</a:t>
            </a:r>
          </a:p>
        </p:txBody>
      </p:sp>
      <p:sp>
        <p:nvSpPr>
          <p:cNvPr id="14" name="Rectangle 14"/>
          <p:cNvSpPr/>
          <p:nvPr/>
        </p:nvSpPr>
        <p:spPr>
          <a:xfrm>
            <a:off x="952500" y="3133725"/>
            <a:ext cx="2571750" cy="400050"/>
          </a:xfrm>
          <a:prstGeom prst="roundRect">
            <a:avLst>
              <a:gd name="adj" fmla="val 14286"/>
            </a:avLst>
          </a:prstGeom>
          <a:solidFill>
            <a:srgbClr val="7C4DFF">
              <a:alpha val="8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627763" y="3269456"/>
            <a:ext cx="122122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5B21B6"/>
                </a:solidFill>
                <a:latin typeface="Arial"/>
                <a:ea typeface="Microsoft YaHei"/>
                <a:cs typeface="Arial"/>
              </a:rPr>
              <a:t>PDF 正式交付格式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429125" y="1333500"/>
            <a:ext cx="3333750" cy="257175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429125" y="1333500"/>
            <a:ext cx="3333750" cy="47625"/>
          </a:xfrm>
          <a:prstGeom prst="rect">
            <a:avLst/>
          </a:prstGeom>
          <a:solidFill>
            <a:srgbClr val="00BFA5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5551884" y="1743075"/>
            <a:ext cx="108823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双图表引擎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557712" y="2164556"/>
            <a:ext cx="2235994" cy="144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100"/>
              </a:lnSpc>
            </a:pPr>
            <a:r>
              <a:rPr lang="zh-CN" sz="112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Plotly 交互式图表</a:t>
            </a:r>
            <a:r>
              <a:rPr lang="zh-CN" sz="112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折线图 / 散点图 / 热力图 / 剖面图</a:t>
            </a:r>
          </a:p>
          <a:p>
            <a:pPr algn="l">
              <a:lnSpc>
                <a:spcPts val="2100"/>
              </a:lnSpc>
              <a:spcBef>
                <a:spcPts val="600"/>
              </a:spcBef>
            </a:pPr>
            <a:r>
              <a:rPr lang="zh-CN" sz="112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Matplotlib 出版级静态图表</a:t>
            </a:r>
            <a:r>
              <a:rPr lang="zh-CN" sz="112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时间序列 / 相关性 / 分布图</a:t>
            </a:r>
          </a:p>
          <a:p>
            <a:pPr algn="l">
              <a:lnSpc>
                <a:spcPts val="2100"/>
              </a:lnSpc>
              <a:spcBef>
                <a:spcPts val="600"/>
              </a:spcBef>
            </a:pPr>
            <a:r>
              <a:rPr lang="zh-CN" sz="112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支持高清图像导出嵌入报告</a:t>
            </a:r>
          </a:p>
        </p:txBody>
      </p:sp>
      <p:sp>
        <p:nvSpPr>
          <p:cNvPr id="20" name="Rectangle 20"/>
          <p:cNvSpPr/>
          <p:nvPr/>
        </p:nvSpPr>
        <p:spPr>
          <a:xfrm>
            <a:off x="8286750" y="1333500"/>
            <a:ext cx="3333750" cy="257175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8286750" y="1333500"/>
            <a:ext cx="3333750" cy="47625"/>
          </a:xfrm>
          <a:prstGeom prst="rect">
            <a:avLst/>
          </a:prstGeom>
          <a:solidFill>
            <a:srgbClr val="7C4DFF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9514522" y="1743075"/>
            <a:ext cx="8782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模板系统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415338" y="2164556"/>
            <a:ext cx="2378869" cy="1104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100"/>
              </a:lnSpc>
            </a:pPr>
            <a:r>
              <a:rPr lang="zh-CN" sz="112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Jinja2 模板引擎</a:t>
            </a:r>
            <a:r>
              <a:rPr lang="zh-CN" sz="112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预置模板：日报 / 周报 / 月报 / 专项</a:t>
            </a:r>
          </a:p>
          <a:p>
            <a:pPr algn="l">
              <a:lnSpc>
                <a:spcPts val="2100"/>
              </a:lnSpc>
              <a:spcBef>
                <a:spcPts val="600"/>
              </a:spcBef>
            </a:pPr>
            <a:r>
              <a:rPr lang="zh-CN" sz="112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支持自定义模板定制</a:t>
            </a:r>
            <a:r>
              <a:rPr lang="zh-CN" sz="112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一键闭环：数据-&gt;分析-&gt;图表-&gt;报告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71500" y="4286250"/>
            <a:ext cx="11049000" cy="857250"/>
          </a:xfrm>
          <a:prstGeom prst="roundRect">
            <a:avLst>
              <a:gd name="adj" fmla="val 13333"/>
            </a:avLst>
          </a:prstGeom>
          <a:solidFill>
            <a:srgbClr val="F5F7FA"/>
          </a:solidFill>
          <a:ln w="9525">
            <a:solidFill>
              <a:srgbClr val="E2E8F0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747712" y="4431506"/>
            <a:ext cx="97369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报告生成流程</a:t>
            </a:r>
          </a:p>
        </p:txBody>
      </p:sp>
      <p:sp>
        <p:nvSpPr>
          <p:cNvPr id="26" name="Rectangle 26"/>
          <p:cNvSpPr/>
          <p:nvPr/>
        </p:nvSpPr>
        <p:spPr>
          <a:xfrm>
            <a:off x="1143000" y="4714875"/>
            <a:ext cx="1524000" cy="28575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1619583" y="4800124"/>
            <a:ext cx="5708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数据导入</a:t>
            </a:r>
          </a:p>
        </p:txBody>
      </p:sp>
      <p:sp>
        <p:nvSpPr>
          <p:cNvPr id="28" name="Freeform 28"/>
          <p:cNvSpPr/>
          <p:nvPr/>
        </p:nvSpPr>
        <p:spPr>
          <a:xfrm>
            <a:off x="2667000" y="4857750"/>
            <a:ext cx="381000" cy="9525"/>
          </a:xfrm>
          <a:custGeom>
            <a:avLst/>
            <a:gdLst/>
            <a:ahLst/>
            <a:cxnLst/>
            <a:rect l="l" t="t" r="r" b="b"/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solidFill>
            <a:srgbClr val="000000"/>
          </a:solidFill>
          <a:ln w="19050">
            <a:solidFill>
              <a:srgbClr val="94A3B8"/>
            </a:solidFill>
          </a:ln>
        </p:spPr>
      </p:sp>
      <p:sp>
        <p:nvSpPr>
          <p:cNvPr id="29" name="Polygon 29"/>
          <p:cNvSpPr/>
          <p:nvPr/>
        </p:nvSpPr>
        <p:spPr>
          <a:xfrm>
            <a:off x="3000375" y="4819650"/>
            <a:ext cx="95250" cy="76200"/>
          </a:xfrm>
          <a:custGeom>
            <a:avLst/>
            <a:gdLst/>
            <a:ahLst/>
            <a:cxnLst/>
            <a:rect l="l" t="t" r="r" b="b"/>
            <a:pathLst>
              <a:path w="95250" h="76200">
                <a:moveTo>
                  <a:pt x="0" y="0"/>
                </a:moveTo>
                <a:lnTo>
                  <a:pt x="9525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</p:spPr>
      </p:sp>
      <p:sp>
        <p:nvSpPr>
          <p:cNvPr id="30" name="Rectangle 30"/>
          <p:cNvSpPr/>
          <p:nvPr/>
        </p:nvSpPr>
        <p:spPr>
          <a:xfrm>
            <a:off x="3143250" y="4714875"/>
            <a:ext cx="1524000" cy="285750"/>
          </a:xfrm>
          <a:prstGeom prst="roundRect">
            <a:avLst>
              <a:gd name="adj" fmla="val 20000"/>
            </a:avLst>
          </a:prstGeom>
          <a:solidFill>
            <a:srgbClr val="00BFA5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3619833" y="4800124"/>
            <a:ext cx="5708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智能分析</a:t>
            </a:r>
          </a:p>
        </p:txBody>
      </p:sp>
      <p:sp>
        <p:nvSpPr>
          <p:cNvPr id="32" name="Freeform 32"/>
          <p:cNvSpPr/>
          <p:nvPr/>
        </p:nvSpPr>
        <p:spPr>
          <a:xfrm>
            <a:off x="4667250" y="4857750"/>
            <a:ext cx="381000" cy="9525"/>
          </a:xfrm>
          <a:custGeom>
            <a:avLst/>
            <a:gdLst/>
            <a:ahLst/>
            <a:cxnLst/>
            <a:rect l="l" t="t" r="r" b="b"/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solidFill>
            <a:srgbClr val="000000"/>
          </a:solidFill>
          <a:ln w="19050">
            <a:solidFill>
              <a:srgbClr val="94A3B8"/>
            </a:solidFill>
          </a:ln>
        </p:spPr>
      </p:sp>
      <p:sp>
        <p:nvSpPr>
          <p:cNvPr id="33" name="Polygon 33"/>
          <p:cNvSpPr/>
          <p:nvPr/>
        </p:nvSpPr>
        <p:spPr>
          <a:xfrm>
            <a:off x="5000625" y="4819650"/>
            <a:ext cx="95250" cy="76200"/>
          </a:xfrm>
          <a:custGeom>
            <a:avLst/>
            <a:gdLst/>
            <a:ahLst/>
            <a:cxnLst/>
            <a:rect l="l" t="t" r="r" b="b"/>
            <a:pathLst>
              <a:path w="95250" h="76200">
                <a:moveTo>
                  <a:pt x="0" y="0"/>
                </a:moveTo>
                <a:lnTo>
                  <a:pt x="9525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</p:spPr>
      </p:sp>
      <p:sp>
        <p:nvSpPr>
          <p:cNvPr id="34" name="Rectangle 34"/>
          <p:cNvSpPr/>
          <p:nvPr/>
        </p:nvSpPr>
        <p:spPr>
          <a:xfrm>
            <a:off x="5143500" y="4714875"/>
            <a:ext cx="1524000" cy="285750"/>
          </a:xfrm>
          <a:prstGeom prst="roundRect">
            <a:avLst>
              <a:gd name="adj" fmla="val 20000"/>
            </a:avLst>
          </a:prstGeom>
          <a:solidFill>
            <a:srgbClr val="7C4DFF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5620083" y="4800124"/>
            <a:ext cx="5708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图表生成</a:t>
            </a:r>
          </a:p>
        </p:txBody>
      </p:sp>
      <p:sp>
        <p:nvSpPr>
          <p:cNvPr id="36" name="Freeform 36"/>
          <p:cNvSpPr/>
          <p:nvPr/>
        </p:nvSpPr>
        <p:spPr>
          <a:xfrm>
            <a:off x="6667500" y="4857750"/>
            <a:ext cx="381000" cy="9525"/>
          </a:xfrm>
          <a:custGeom>
            <a:avLst/>
            <a:gdLst/>
            <a:ahLst/>
            <a:cxnLst/>
            <a:rect l="l" t="t" r="r" b="b"/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solidFill>
            <a:srgbClr val="000000"/>
          </a:solidFill>
          <a:ln w="19050">
            <a:solidFill>
              <a:srgbClr val="94A3B8"/>
            </a:solidFill>
          </a:ln>
        </p:spPr>
      </p:sp>
      <p:sp>
        <p:nvSpPr>
          <p:cNvPr id="37" name="Polygon 37"/>
          <p:cNvSpPr/>
          <p:nvPr/>
        </p:nvSpPr>
        <p:spPr>
          <a:xfrm>
            <a:off x="7000875" y="4819650"/>
            <a:ext cx="95250" cy="76200"/>
          </a:xfrm>
          <a:custGeom>
            <a:avLst/>
            <a:gdLst/>
            <a:ahLst/>
            <a:cxnLst/>
            <a:rect l="l" t="t" r="r" b="b"/>
            <a:pathLst>
              <a:path w="95250" h="76200">
                <a:moveTo>
                  <a:pt x="0" y="0"/>
                </a:moveTo>
                <a:lnTo>
                  <a:pt x="9525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7143750" y="4714875"/>
            <a:ext cx="1714500" cy="28575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7579066" y="4800124"/>
            <a:ext cx="84386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一键输出报告</a:t>
            </a:r>
          </a:p>
        </p:txBody>
      </p:sp>
      <p:sp>
        <p:nvSpPr>
          <p:cNvPr id="40" name="Rectangle 40"/>
          <p:cNvSpPr/>
          <p:nvPr/>
        </p:nvSpPr>
        <p:spPr>
          <a:xfrm>
            <a:off x="0" y="6762750"/>
            <a:ext cx="12192000" cy="95250"/>
          </a:xfrm>
          <a:prstGeom prst="rect">
            <a:avLst/>
          </a:prstGeom>
          <a:solidFill>
            <a:srgbClr val="1565C0">
              <a:alpha val="8000"/>
            </a:srgbClr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561022" y="6626066"/>
            <a:ext cx="114859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Research Agent · P07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280035"/>
            <a:ext cx="233686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自我成长体系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7143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00BFA5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6260" y="899160"/>
            <a:ext cx="37829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每一次使用都在让 Agent 变得更好——核心差异化能力</a:t>
            </a:r>
          </a:p>
        </p:txBody>
      </p:sp>
      <p:sp>
        <p:nvSpPr>
          <p:cNvPr id="7" name="Ellipse 7"/>
          <p:cNvSpPr/>
          <p:nvPr/>
        </p:nvSpPr>
        <p:spPr>
          <a:xfrm>
            <a:off x="5429250" y="3143250"/>
            <a:ext cx="1333500" cy="13335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5866924" y="3552825"/>
            <a:ext cx="45815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自我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866924" y="3790950"/>
            <a:ext cx="45815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成长</a:t>
            </a:r>
          </a:p>
        </p:txBody>
      </p:sp>
      <p:sp>
        <p:nvSpPr>
          <p:cNvPr id="10" name="Rectangle 10"/>
          <p:cNvSpPr/>
          <p:nvPr/>
        </p:nvSpPr>
        <p:spPr>
          <a:xfrm>
            <a:off x="4191000" y="1333500"/>
            <a:ext cx="3810000" cy="762000"/>
          </a:xfrm>
          <a:prstGeom prst="roundRect">
            <a:avLst>
              <a:gd name="adj" fmla="val 15000"/>
            </a:avLst>
          </a:prstGeom>
          <a:solidFill>
            <a:srgbClr val="F0FDFA"/>
          </a:solidFill>
          <a:ln w="9525">
            <a:solidFill>
              <a:srgbClr val="00BFA5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5744718" y="1527810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D9488"/>
                </a:solidFill>
                <a:latin typeface="Arial"/>
                <a:ea typeface="Microsoft YaHei"/>
                <a:cs typeface="Arial"/>
              </a:rPr>
              <a:t>记忆网络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674394" y="1826895"/>
            <a:ext cx="284321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短期对话 + 长期持久化记忆 / TF-IDF加权 / 时效衰减</a:t>
            </a:r>
          </a:p>
        </p:txBody>
      </p:sp>
      <p:sp>
        <p:nvSpPr>
          <p:cNvPr id="13" name="Freeform 13"/>
          <p:cNvSpPr/>
          <p:nvPr/>
        </p:nvSpPr>
        <p:spPr>
          <a:xfrm>
            <a:off x="6096000" y="2095500"/>
            <a:ext cx="9525" cy="952500"/>
          </a:xfrm>
          <a:custGeom>
            <a:avLst/>
            <a:gdLst/>
            <a:ahLst/>
            <a:cxnLst/>
            <a:rect l="l" t="t" r="r" b="b"/>
            <a:pathLst>
              <a:path w="9525" h="952500">
                <a:moveTo>
                  <a:pt x="0" y="0"/>
                </a:moveTo>
                <a:lnTo>
                  <a:pt x="0" y="952500"/>
                </a:lnTo>
              </a:path>
            </a:pathLst>
          </a:custGeom>
          <a:solidFill>
            <a:srgbClr val="000000"/>
          </a:solidFill>
          <a:ln w="19050">
            <a:solidFill>
              <a:srgbClr val="00BFA5"/>
            </a:solidFill>
            <a:prstDash val="dash"/>
          </a:ln>
        </p:spPr>
      </p:sp>
      <p:sp>
        <p:nvSpPr>
          <p:cNvPr id="14" name="Polygon 14"/>
          <p:cNvSpPr/>
          <p:nvPr/>
        </p:nvSpPr>
        <p:spPr>
          <a:xfrm>
            <a:off x="6048375" y="300037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47625" y="95250"/>
                </a:lnTo>
                <a:lnTo>
                  <a:pt x="95250" y="0"/>
                </a:lnTo>
                <a:close/>
              </a:path>
            </a:pathLst>
          </a:custGeom>
          <a:solidFill>
            <a:srgbClr val="00BFA5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8001000" y="3238500"/>
            <a:ext cx="3333750" cy="762000"/>
          </a:xfrm>
          <a:prstGeom prst="roundRect">
            <a:avLst>
              <a:gd name="adj" fmla="val 15000"/>
            </a:avLst>
          </a:prstGeom>
          <a:solidFill>
            <a:srgbClr val="F5F3FF"/>
          </a:solidFill>
          <a:ln w="9525">
            <a:solidFill>
              <a:srgbClr val="7C4DFF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9316593" y="3432810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5B21B6"/>
                </a:solidFill>
                <a:latin typeface="Arial"/>
                <a:ea typeface="Microsoft YaHei"/>
                <a:cs typeface="Arial"/>
              </a:rPr>
              <a:t>反馈系统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372284" y="3731895"/>
            <a:ext cx="259118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显式反馈（点赞/评分）+ 隐式反馈（用户行为）</a:t>
            </a:r>
          </a:p>
        </p:txBody>
      </p:sp>
      <p:sp>
        <p:nvSpPr>
          <p:cNvPr id="18" name="Freeform 18"/>
          <p:cNvSpPr/>
          <p:nvPr/>
        </p:nvSpPr>
        <p:spPr>
          <a:xfrm>
            <a:off x="6858000" y="3714750"/>
            <a:ext cx="1047750" cy="9525"/>
          </a:xfrm>
          <a:custGeom>
            <a:avLst/>
            <a:gdLst/>
            <a:ahLst/>
            <a:cxnLst/>
            <a:rect l="l" t="t" r="r" b="b"/>
            <a:pathLst>
              <a:path w="1047750" h="9525">
                <a:moveTo>
                  <a:pt x="0" y="0"/>
                </a:moveTo>
                <a:lnTo>
                  <a:pt x="1047750" y="0"/>
                </a:lnTo>
              </a:path>
            </a:pathLst>
          </a:custGeom>
          <a:solidFill>
            <a:srgbClr val="000000"/>
          </a:solidFill>
          <a:ln w="19050">
            <a:solidFill>
              <a:srgbClr val="7C4DFF"/>
            </a:solidFill>
            <a:prstDash val="dash"/>
          </a:ln>
        </p:spPr>
      </p:sp>
      <p:sp>
        <p:nvSpPr>
          <p:cNvPr id="19" name="Polygon 19"/>
          <p:cNvSpPr/>
          <p:nvPr/>
        </p:nvSpPr>
        <p:spPr>
          <a:xfrm>
            <a:off x="7858125" y="36671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47625"/>
                </a:lnTo>
                <a:lnTo>
                  <a:pt x="0" y="95250"/>
                </a:lnTo>
                <a:close/>
              </a:path>
            </a:pathLst>
          </a:custGeom>
          <a:solidFill>
            <a:srgbClr val="7C4DFF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4191000" y="5048250"/>
            <a:ext cx="3810000" cy="762000"/>
          </a:xfrm>
          <a:prstGeom prst="roundRect">
            <a:avLst>
              <a:gd name="adj" fmla="val 15000"/>
            </a:avLst>
          </a:prstGeom>
          <a:solidFill>
            <a:srgbClr val="F0FDF4"/>
          </a:solidFill>
          <a:ln w="9525">
            <a:solidFill>
              <a:srgbClr val="10B981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5169246" y="5242560"/>
            <a:ext cx="185350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59669"/>
                </a:solidFill>
                <a:latin typeface="Arial"/>
                <a:ea typeface="Microsoft YaHei"/>
                <a:cs typeface="Arial"/>
              </a:rPr>
              <a:t>Prompt 自动优化 (APE)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950428" y="5541645"/>
            <a:ext cx="229114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自动搜索更优 Prompt / A/B 测试验证效果</a:t>
            </a:r>
          </a:p>
        </p:txBody>
      </p:sp>
      <p:sp>
        <p:nvSpPr>
          <p:cNvPr id="23" name="Freeform 23"/>
          <p:cNvSpPr/>
          <p:nvPr/>
        </p:nvSpPr>
        <p:spPr>
          <a:xfrm>
            <a:off x="6096000" y="4476750"/>
            <a:ext cx="9525" cy="476250"/>
          </a:xfrm>
          <a:custGeom>
            <a:avLst/>
            <a:gdLst/>
            <a:ahLst/>
            <a:cxnLst/>
            <a:rect l="l" t="t" r="r" b="b"/>
            <a:pathLst>
              <a:path w="9525" h="476250">
                <a:moveTo>
                  <a:pt x="0" y="0"/>
                </a:moveTo>
                <a:lnTo>
                  <a:pt x="0" y="476250"/>
                </a:lnTo>
              </a:path>
            </a:pathLst>
          </a:custGeom>
          <a:solidFill>
            <a:srgbClr val="000000"/>
          </a:solidFill>
          <a:ln w="19050">
            <a:solidFill>
              <a:srgbClr val="10B981"/>
            </a:solidFill>
            <a:prstDash val="dash"/>
          </a:ln>
        </p:spPr>
      </p:sp>
      <p:sp>
        <p:nvSpPr>
          <p:cNvPr id="24" name="Polygon 24"/>
          <p:cNvSpPr/>
          <p:nvPr/>
        </p:nvSpPr>
        <p:spPr>
          <a:xfrm>
            <a:off x="6048375" y="490537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47625" y="95250"/>
                </a:lnTo>
                <a:lnTo>
                  <a:pt x="95250" y="0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857250" y="3238500"/>
            <a:ext cx="3333750" cy="762000"/>
          </a:xfrm>
          <a:prstGeom prst="roundRect">
            <a:avLst>
              <a:gd name="adj" fmla="val 15000"/>
            </a:avLst>
          </a:prstGeom>
          <a:solidFill>
            <a:srgbClr val="EFF6FF"/>
          </a:solidFill>
          <a:ln w="9525">
            <a:solidFill>
              <a:srgbClr val="1565C0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2130838" y="3432810"/>
            <a:ext cx="78657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LoRA 微调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78553" y="3731895"/>
            <a:ext cx="229114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基于 HuggingFace PEFT 的低资源微调管线</a:t>
            </a:r>
          </a:p>
        </p:txBody>
      </p:sp>
      <p:sp>
        <p:nvSpPr>
          <p:cNvPr id="28" name="Freeform 28"/>
          <p:cNvSpPr/>
          <p:nvPr/>
        </p:nvSpPr>
        <p:spPr>
          <a:xfrm>
            <a:off x="4286250" y="3714750"/>
            <a:ext cx="1047750" cy="9525"/>
          </a:xfrm>
          <a:custGeom>
            <a:avLst/>
            <a:gdLst/>
            <a:ahLst/>
            <a:cxnLst/>
            <a:rect l="l" t="t" r="r" b="b"/>
            <a:pathLst>
              <a:path w="1047750" h="9525">
                <a:moveTo>
                  <a:pt x="0" y="0"/>
                </a:moveTo>
                <a:lnTo>
                  <a:pt x="1047750" y="0"/>
                </a:lnTo>
              </a:path>
            </a:pathLst>
          </a:custGeom>
          <a:solidFill>
            <a:srgbClr val="000000"/>
          </a:solidFill>
          <a:ln w="19050">
            <a:solidFill>
              <a:srgbClr val="1565C0"/>
            </a:solidFill>
            <a:prstDash val="dash"/>
          </a:ln>
        </p:spPr>
      </p:sp>
      <p:sp>
        <p:nvSpPr>
          <p:cNvPr id="29" name="Polygon 29"/>
          <p:cNvSpPr/>
          <p:nvPr/>
        </p:nvSpPr>
        <p:spPr>
          <a:xfrm>
            <a:off x="5286375" y="36671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47625"/>
                </a:lnTo>
                <a:lnTo>
                  <a:pt x="0" y="95250"/>
                </a:ln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1198245" y="3130391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数据驱动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675495" y="3130391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效果验证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865495" y="4387691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持续优化</a:t>
            </a:r>
          </a:p>
        </p:txBody>
      </p:sp>
      <p:sp>
        <p:nvSpPr>
          <p:cNvPr id="33" name="Rectangle 33"/>
          <p:cNvSpPr/>
          <p:nvPr/>
        </p:nvSpPr>
        <p:spPr>
          <a:xfrm>
            <a:off x="0" y="6762750"/>
            <a:ext cx="12192000" cy="95250"/>
          </a:xfrm>
          <a:prstGeom prst="rect">
            <a:avLst/>
          </a:prstGeom>
          <a:solidFill>
            <a:srgbClr val="1565C0">
              <a:alpha val="8000"/>
            </a:srgbClr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561022" y="6626066"/>
            <a:ext cx="114859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Research Agent · P08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280035"/>
            <a:ext cx="3527712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智能推理 &amp; 沙箱执行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7143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00BFA5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6260" y="899160"/>
            <a:ext cx="415099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Think-Act-Observe 推理循环 + 安全隔离的代码执行环境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333500"/>
            <a:ext cx="5334000" cy="4381500"/>
          </a:xfrm>
          <a:prstGeom prst="roundRect">
            <a:avLst>
              <a:gd name="adj" fmla="val 2609"/>
            </a:avLst>
          </a:prstGeom>
          <a:solidFill>
            <a:srgbClr val="F5F7FA"/>
          </a:solidFill>
          <a:ln w="9525">
            <a:solidFill>
              <a:srgbClr val="E2E8F0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2403168" y="1536382"/>
            <a:ext cx="167066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ReAct 推理循环</a:t>
            </a:r>
          </a:p>
        </p:txBody>
      </p:sp>
      <p:sp>
        <p:nvSpPr>
          <p:cNvPr id="9" name="Rectangle 9"/>
          <p:cNvSpPr/>
          <p:nvPr/>
        </p:nvSpPr>
        <p:spPr>
          <a:xfrm>
            <a:off x="952500" y="200025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322165" y="2221706"/>
            <a:ext cx="78467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思考 Think</a:t>
            </a:r>
          </a:p>
        </p:txBody>
      </p:sp>
      <p:sp>
        <p:nvSpPr>
          <p:cNvPr id="11" name="Freeform 11"/>
          <p:cNvSpPr/>
          <p:nvPr/>
        </p:nvSpPr>
        <p:spPr>
          <a:xfrm>
            <a:off x="2476500" y="2286000"/>
            <a:ext cx="381000" cy="9525"/>
          </a:xfrm>
          <a:custGeom>
            <a:avLst/>
            <a:gdLst/>
            <a:ahLst/>
            <a:cxnLst/>
            <a:rect l="l" t="t" r="r" b="b"/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solidFill>
            <a:srgbClr val="000000"/>
          </a:solidFill>
          <a:ln w="19050">
            <a:solidFill>
              <a:srgbClr val="94A3B8"/>
            </a:solidFill>
          </a:ln>
        </p:spPr>
      </p:sp>
      <p:sp>
        <p:nvSpPr>
          <p:cNvPr id="12" name="Polygon 12"/>
          <p:cNvSpPr/>
          <p:nvPr/>
        </p:nvSpPr>
        <p:spPr>
          <a:xfrm>
            <a:off x="2809875" y="2247900"/>
            <a:ext cx="95250" cy="76200"/>
          </a:xfrm>
          <a:custGeom>
            <a:avLst/>
            <a:gdLst/>
            <a:ahLst/>
            <a:cxnLst/>
            <a:rect l="l" t="t" r="r" b="b"/>
            <a:pathLst>
              <a:path w="95250" h="76200">
                <a:moveTo>
                  <a:pt x="0" y="0"/>
                </a:moveTo>
                <a:lnTo>
                  <a:pt x="9525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2952750" y="200025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00BFA5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3389361" y="2221706"/>
            <a:ext cx="65077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行动 Act</a:t>
            </a:r>
          </a:p>
        </p:txBody>
      </p:sp>
      <p:sp>
        <p:nvSpPr>
          <p:cNvPr id="15" name="Freeform 15"/>
          <p:cNvSpPr/>
          <p:nvPr/>
        </p:nvSpPr>
        <p:spPr>
          <a:xfrm>
            <a:off x="3238500" y="2286000"/>
            <a:ext cx="1238250" cy="952500"/>
          </a:xfrm>
          <a:custGeom>
            <a:avLst/>
            <a:gdLst/>
            <a:ahLst/>
            <a:cxnLst/>
            <a:rect l="l" t="t" r="r" b="b"/>
            <a:pathLst>
              <a:path w="1238250" h="952500">
                <a:moveTo>
                  <a:pt x="1238250" y="0"/>
                </a:moveTo>
                <a:lnTo>
                  <a:pt x="0" y="952500"/>
                </a:lnTo>
              </a:path>
            </a:pathLst>
          </a:custGeom>
          <a:solidFill>
            <a:srgbClr val="000000"/>
          </a:solidFill>
          <a:ln w="19050">
            <a:solidFill>
              <a:srgbClr val="94A3B8"/>
            </a:solidFill>
          </a:ln>
        </p:spPr>
      </p:sp>
      <p:sp>
        <p:nvSpPr>
          <p:cNvPr id="16" name="Polygon 16"/>
          <p:cNvSpPr/>
          <p:nvPr/>
        </p:nvSpPr>
        <p:spPr>
          <a:xfrm>
            <a:off x="3190875" y="3219450"/>
            <a:ext cx="123825" cy="85725"/>
          </a:xfrm>
          <a:custGeom>
            <a:avLst/>
            <a:gdLst/>
            <a:ahLst/>
            <a:cxnLst/>
            <a:rect l="l" t="t" r="r" b="b"/>
            <a:pathLst>
              <a:path w="123825" h="85725">
                <a:moveTo>
                  <a:pt x="95250" y="0"/>
                </a:moveTo>
                <a:lnTo>
                  <a:pt x="0" y="66675"/>
                </a:lnTo>
                <a:lnTo>
                  <a:pt x="123825" y="85725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1905000" y="304800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7C4DFF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2152587" y="3269456"/>
            <a:ext cx="10288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观察 Observe</a:t>
            </a:r>
          </a:p>
        </p:txBody>
      </p:sp>
      <p:sp>
        <p:nvSpPr>
          <p:cNvPr id="19" name="Freeform 19"/>
          <p:cNvSpPr/>
          <p:nvPr/>
        </p:nvSpPr>
        <p:spPr>
          <a:xfrm>
            <a:off x="2667000" y="3619500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solidFill>
            <a:srgbClr val="000000"/>
          </a:solidFill>
          <a:ln w="19050">
            <a:solidFill>
              <a:srgbClr val="94A3B8"/>
            </a:solidFill>
          </a:ln>
        </p:spPr>
      </p:sp>
      <p:sp>
        <p:nvSpPr>
          <p:cNvPr id="20" name="Polygon 20"/>
          <p:cNvSpPr/>
          <p:nvPr/>
        </p:nvSpPr>
        <p:spPr>
          <a:xfrm>
            <a:off x="2619375" y="395287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47625" y="95250"/>
                </a:lnTo>
                <a:lnTo>
                  <a:pt x="95250" y="0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1905000" y="409575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1565C0">
              <a:alpha val="70000"/>
            </a:srgbClr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2188029" y="4317206"/>
            <a:ext cx="95794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反思 Reflect</a:t>
            </a:r>
          </a:p>
        </p:txBody>
      </p:sp>
      <p:sp>
        <p:nvSpPr>
          <p:cNvPr id="23" name="Freeform 23"/>
          <p:cNvSpPr/>
          <p:nvPr/>
        </p:nvSpPr>
        <p:spPr>
          <a:xfrm>
            <a:off x="730250" y="2571750"/>
            <a:ext cx="984250" cy="1809750"/>
          </a:xfrm>
          <a:custGeom>
            <a:avLst/>
            <a:gdLst/>
            <a:ahLst/>
            <a:cxnLst/>
            <a:rect l="l" t="t" r="r" b="b"/>
            <a:pathLst>
              <a:path w="984250" h="1809750">
                <a:moveTo>
                  <a:pt x="984250" y="1809750"/>
                </a:moveTo>
                <a:lnTo>
                  <a:pt x="127000" y="857250"/>
                </a:lnTo>
                <a:cubicBezTo>
                  <a:pt x="0" y="666750"/>
                  <a:pt x="31750" y="476250"/>
                  <a:pt x="222250" y="285750"/>
                </a:cubicBezTo>
                <a:lnTo>
                  <a:pt x="793750" y="0"/>
                </a:lnTo>
              </a:path>
            </a:pathLst>
          </a:custGeom>
          <a:noFill/>
          <a:ln w="14288">
            <a:solidFill>
              <a:srgbClr val="1565C0"/>
            </a:solidFill>
            <a:custDash>
              <a:ds d="333333" sp="200000"/>
            </a:custDash>
          </a:ln>
        </p:spPr>
      </p:sp>
      <p:sp>
        <p:nvSpPr>
          <p:cNvPr id="24" name="TextBox 24"/>
          <p:cNvSpPr txBox="1"/>
          <p:nvPr/>
        </p:nvSpPr>
        <p:spPr>
          <a:xfrm>
            <a:off x="940118" y="5228749"/>
            <a:ext cx="30736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工具集：分析引擎 / 知识检索 / 代码执行 / 报告生成</a:t>
            </a:r>
          </a:p>
        </p:txBody>
      </p:sp>
      <p:sp>
        <p:nvSpPr>
          <p:cNvPr id="25" name="Rectangle 25"/>
          <p:cNvSpPr/>
          <p:nvPr/>
        </p:nvSpPr>
        <p:spPr>
          <a:xfrm>
            <a:off x="6286500" y="1333500"/>
            <a:ext cx="5334000" cy="4381500"/>
          </a:xfrm>
          <a:prstGeom prst="roundRect">
            <a:avLst>
              <a:gd name="adj" fmla="val 2609"/>
            </a:avLst>
          </a:prstGeom>
          <a:solidFill>
            <a:srgbClr val="F5F7FA"/>
          </a:solidFill>
          <a:ln w="9525">
            <a:solidFill>
              <a:srgbClr val="E2E8F0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470487" y="1536382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代码沙箱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667500" y="2000250"/>
            <a:ext cx="457200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6667500" y="2000250"/>
            <a:ext cx="4572000" cy="28575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844665" y="215360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59669"/>
                </a:solidFill>
                <a:latin typeface="Consolas"/>
                <a:ea typeface="Microsoft YaHei"/>
                <a:cs typeface="Consolas"/>
              </a:rPr>
              <a:t>隔离执行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845618" y="2418874"/>
            <a:ext cx="258608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subprocess 隔离 + CPU/内存/时间资源限制</a:t>
            </a:r>
          </a:p>
        </p:txBody>
      </p:sp>
      <p:sp>
        <p:nvSpPr>
          <p:cNvPr id="31" name="Rectangle 31"/>
          <p:cNvSpPr/>
          <p:nvPr/>
        </p:nvSpPr>
        <p:spPr>
          <a:xfrm>
            <a:off x="6667500" y="2952750"/>
            <a:ext cx="457200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6667500" y="2952750"/>
            <a:ext cx="4572000" cy="28575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6844665" y="310610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565C0"/>
                </a:solidFill>
                <a:latin typeface="Consolas"/>
                <a:ea typeface="Microsoft YaHei"/>
                <a:cs typeface="Consolas"/>
              </a:rPr>
              <a:t>安全策略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845618" y="3371374"/>
            <a:ext cx="22740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白名单函数 / 敏感操作审批 / 审计日志</a:t>
            </a:r>
          </a:p>
        </p:txBody>
      </p:sp>
      <p:sp>
        <p:nvSpPr>
          <p:cNvPr id="35" name="Rectangle 35"/>
          <p:cNvSpPr/>
          <p:nvPr/>
        </p:nvSpPr>
        <p:spPr>
          <a:xfrm>
            <a:off x="6667500" y="3905250"/>
            <a:ext cx="457200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6667500" y="3905250"/>
            <a:ext cx="4572000" cy="28575"/>
          </a:xfrm>
          <a:prstGeom prst="rect">
            <a:avLst/>
          </a:prstGeom>
          <a:solidFill>
            <a:srgbClr val="7C4DFF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6844665" y="4058602"/>
            <a:ext cx="5926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5B21B6"/>
                </a:solidFill>
                <a:latin typeface="Consolas"/>
                <a:ea typeface="Microsoft YaHei"/>
                <a:cs typeface="Consolas"/>
              </a:rPr>
              <a:t>NL2Code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845618" y="4323874"/>
            <a:ext cx="33531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自然语言 -&gt; Python 代码自动生成 / 图表捕获 / 结果解释</a:t>
            </a:r>
          </a:p>
        </p:txBody>
      </p:sp>
      <p:sp>
        <p:nvSpPr>
          <p:cNvPr id="39" name="Rectangle 39"/>
          <p:cNvSpPr/>
          <p:nvPr/>
        </p:nvSpPr>
        <p:spPr>
          <a:xfrm>
            <a:off x="0" y="6762750"/>
            <a:ext cx="12192000" cy="95250"/>
          </a:xfrm>
          <a:prstGeom prst="rect">
            <a:avLst/>
          </a:prstGeom>
          <a:solidFill>
            <a:srgbClr val="1565C0">
              <a:alpha val="8000"/>
            </a:srgbClr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561022" y="6626066"/>
            <a:ext cx="114859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Research Agent · P09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280035"/>
            <a:ext cx="195881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项目路线图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7143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00BFA5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6260" y="899160"/>
            <a:ext cx="33909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四阶段渐进式开发，每阶段交付可使用的里程碑</a:t>
            </a:r>
          </a:p>
        </p:txBody>
      </p:sp>
      <p:sp>
        <p:nvSpPr>
          <p:cNvPr id="7" name="Line 7"/>
          <p:cNvSpPr/>
          <p:nvPr/>
        </p:nvSpPr>
        <p:spPr>
          <a:xfrm>
            <a:off x="762000" y="30480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38100">
            <a:solidFill>
              <a:srgbClr val="E2E8F0"/>
            </a:solidFill>
          </a:ln>
        </p:spPr>
      </p:sp>
      <p:sp>
        <p:nvSpPr>
          <p:cNvPr id="8" name="Ellipse 8"/>
          <p:cNvSpPr/>
          <p:nvPr/>
        </p:nvSpPr>
        <p:spPr>
          <a:xfrm>
            <a:off x="1352550" y="2876550"/>
            <a:ext cx="342900" cy="3429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1447800" y="2971800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762000" y="1428750"/>
            <a:ext cx="2000250" cy="1143000"/>
          </a:xfrm>
          <a:prstGeom prst="roundRect">
            <a:avLst>
              <a:gd name="adj" fmla="val 8333"/>
            </a:avLst>
          </a:prstGeom>
          <a:solidFill>
            <a:srgbClr val="F5F7FA"/>
          </a:solidFill>
          <a:ln w="9525">
            <a:solidFill>
              <a:srgbClr val="1565C0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762000" y="1428750"/>
            <a:ext cx="200025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464302" y="1574006"/>
            <a:ext cx="59564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Phase 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31630" y="1769745"/>
            <a:ext cx="106099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骨架搭建（1-2周）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94398" y="2006441"/>
            <a:ext cx="115409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后端框架 + AI 模型接入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94398" y="2177891"/>
            <a:ext cx="102208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基础对话 + 基础 RAG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94398" y="2349341"/>
            <a:ext cx="109909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NiceGUI 前端 + 数据库</a:t>
            </a:r>
          </a:p>
        </p:txBody>
      </p:sp>
      <p:sp>
        <p:nvSpPr>
          <p:cNvPr id="17" name="Ellipse 17"/>
          <p:cNvSpPr/>
          <p:nvPr/>
        </p:nvSpPr>
        <p:spPr>
          <a:xfrm>
            <a:off x="3829050" y="2876550"/>
            <a:ext cx="342900" cy="342900"/>
          </a:xfrm>
          <a:prstGeom prst="ellipse">
            <a:avLst/>
          </a:prstGeom>
          <a:solidFill>
            <a:srgbClr val="00BFA5"/>
          </a:solidFill>
          <a:ln>
            <a:noFill/>
          </a:ln>
        </p:spPr>
      </p:sp>
      <p:sp>
        <p:nvSpPr>
          <p:cNvPr id="18" name="Ellipse 18"/>
          <p:cNvSpPr/>
          <p:nvPr/>
        </p:nvSpPr>
        <p:spPr>
          <a:xfrm>
            <a:off x="3924300" y="2971800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3000375" y="4095750"/>
            <a:ext cx="2000250" cy="1143000"/>
          </a:xfrm>
          <a:prstGeom prst="roundRect">
            <a:avLst>
              <a:gd name="adj" fmla="val 8333"/>
            </a:avLst>
          </a:prstGeom>
          <a:solidFill>
            <a:srgbClr val="F5F7FA"/>
          </a:solidFill>
          <a:ln w="9525">
            <a:solidFill>
              <a:srgbClr val="00BFA5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3000375" y="4095750"/>
            <a:ext cx="2000250" cy="38100"/>
          </a:xfrm>
          <a:prstGeom prst="rect">
            <a:avLst/>
          </a:prstGeom>
          <a:solidFill>
            <a:srgbClr val="00BFA5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3702677" y="4241006"/>
            <a:ext cx="59564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0D9488"/>
                </a:solidFill>
                <a:latin typeface="Arial"/>
                <a:ea typeface="Microsoft YaHei"/>
                <a:cs typeface="Arial"/>
              </a:rPr>
              <a:t>Phase 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470005" y="4436745"/>
            <a:ext cx="106099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专业能力（2-3周）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132772" y="4673441"/>
            <a:ext cx="109909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GNSS/InSAR/水文分析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132772" y="4844891"/>
            <a:ext cx="102758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图表引擎 + 报告模板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132772" y="5016341"/>
            <a:ext cx="122010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NL2Query 自然语言查询</a:t>
            </a:r>
          </a:p>
        </p:txBody>
      </p:sp>
      <p:sp>
        <p:nvSpPr>
          <p:cNvPr id="26" name="Ellipse 26"/>
          <p:cNvSpPr/>
          <p:nvPr/>
        </p:nvSpPr>
        <p:spPr>
          <a:xfrm>
            <a:off x="6496050" y="2876550"/>
            <a:ext cx="342900" cy="342900"/>
          </a:xfrm>
          <a:prstGeom prst="ellipse">
            <a:avLst/>
          </a:prstGeom>
          <a:solidFill>
            <a:srgbClr val="7C4DFF"/>
          </a:solidFill>
          <a:ln>
            <a:noFill/>
          </a:ln>
        </p:spPr>
      </p:sp>
      <p:sp>
        <p:nvSpPr>
          <p:cNvPr id="27" name="Ellipse 27"/>
          <p:cNvSpPr/>
          <p:nvPr/>
        </p:nvSpPr>
        <p:spPr>
          <a:xfrm>
            <a:off x="6591300" y="2971800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5667375" y="1428750"/>
            <a:ext cx="2000250" cy="1143000"/>
          </a:xfrm>
          <a:prstGeom prst="roundRect">
            <a:avLst>
              <a:gd name="adj" fmla="val 8333"/>
            </a:avLst>
          </a:prstGeom>
          <a:solidFill>
            <a:srgbClr val="F5F7FA"/>
          </a:solidFill>
          <a:ln w="9525">
            <a:solidFill>
              <a:srgbClr val="7C4DFF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5667375" y="1428750"/>
            <a:ext cx="2000250" cy="38100"/>
          </a:xfrm>
          <a:prstGeom prst="rect">
            <a:avLst/>
          </a:prstGeom>
          <a:solidFill>
            <a:srgbClr val="7C4DFF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369677" y="1574006"/>
            <a:ext cx="59564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5B21B6"/>
                </a:solidFill>
                <a:latin typeface="Arial"/>
                <a:ea typeface="Microsoft YaHei"/>
                <a:cs typeface="Arial"/>
              </a:rPr>
              <a:t>Phase 3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137005" y="1769745"/>
            <a:ext cx="106099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自我成长（3-4周）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799772" y="2006441"/>
            <a:ext cx="102758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记忆系统 + 反馈系统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799772" y="2177891"/>
            <a:ext cx="109358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APE Prompt 自动优化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799772" y="2349341"/>
            <a:ext cx="73604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LoRA 微调管线</a:t>
            </a:r>
          </a:p>
        </p:txBody>
      </p:sp>
      <p:sp>
        <p:nvSpPr>
          <p:cNvPr id="35" name="Ellipse 35"/>
          <p:cNvSpPr/>
          <p:nvPr/>
        </p:nvSpPr>
        <p:spPr>
          <a:xfrm>
            <a:off x="9163050" y="2876550"/>
            <a:ext cx="342900" cy="3429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36" name="Ellipse 36"/>
          <p:cNvSpPr/>
          <p:nvPr/>
        </p:nvSpPr>
        <p:spPr>
          <a:xfrm>
            <a:off x="9258300" y="2971800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8334375" y="4095750"/>
            <a:ext cx="2000250" cy="1143000"/>
          </a:xfrm>
          <a:prstGeom prst="roundRect">
            <a:avLst>
              <a:gd name="adj" fmla="val 8333"/>
            </a:avLst>
          </a:prstGeom>
          <a:solidFill>
            <a:srgbClr val="F5F7FA"/>
          </a:solidFill>
          <a:ln w="9525">
            <a:solidFill>
              <a:srgbClr val="1565C0"/>
            </a:solidFill>
          </a:ln>
        </p:spPr>
      </p:sp>
      <p:sp>
        <p:nvSpPr>
          <p:cNvPr id="38" name="Rectangle 38"/>
          <p:cNvSpPr/>
          <p:nvPr/>
        </p:nvSpPr>
        <p:spPr>
          <a:xfrm>
            <a:off x="8334375" y="4095750"/>
            <a:ext cx="200025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9036677" y="4241006"/>
            <a:ext cx="59564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Phase 4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825008" y="4436745"/>
            <a:ext cx="10189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App封装（2-3周）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466772" y="4673441"/>
            <a:ext cx="11871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PyInstaller 桌面端封装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466772" y="4844891"/>
            <a:ext cx="120360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安全沙箱 + Docker 部署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466772" y="5016341"/>
            <a:ext cx="80755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性能优化 + 文档</a:t>
            </a:r>
          </a:p>
        </p:txBody>
      </p:sp>
      <p:sp>
        <p:nvSpPr>
          <p:cNvPr id="44" name="Rectangle 44"/>
          <p:cNvSpPr/>
          <p:nvPr/>
        </p:nvSpPr>
        <p:spPr>
          <a:xfrm>
            <a:off x="0" y="6762750"/>
            <a:ext cx="12192000" cy="95250"/>
          </a:xfrm>
          <a:prstGeom prst="rect">
            <a:avLst/>
          </a:prstGeom>
          <a:solidFill>
            <a:srgbClr val="1565C0">
              <a:alpha val="8000"/>
            </a:srgbClr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561022" y="6626066"/>
            <a:ext cx="114859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Research Agent · P10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280035"/>
            <a:ext cx="158076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技术亮点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7143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00BFA5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6260" y="899160"/>
            <a:ext cx="38709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多项关键技术决策确保系统的先进性、安全性与可用性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333500"/>
            <a:ext cx="5048250" cy="2095500"/>
          </a:xfrm>
          <a:prstGeom prst="roundRect">
            <a:avLst>
              <a:gd name="adj" fmla="val 5455"/>
            </a:avLst>
          </a:prstGeom>
          <a:solidFill>
            <a:srgbClr val="F5F7FA"/>
          </a:solidFill>
          <a:ln w="9525">
            <a:solidFill>
              <a:srgbClr val="E2E8F0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1333500"/>
            <a:ext cx="57150" cy="20955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36295" y="1584008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架构先进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2962" y="2021681"/>
            <a:ext cx="2057400" cy="1085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250"/>
              </a:lnSpc>
            </a:pPr>
            <a:r>
              <a:rPr lang="zh-CN" sz="112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FastAPI 异步高性能框架</a:t>
            </a:r>
            <a:r>
              <a:rPr lang="zh-CN" sz="112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LangChain + 自定义 Agent 引擎</a:t>
            </a:r>
            <a:r>
              <a:rPr lang="zh-CN" sz="112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模块化设计，各层松耦合</a:t>
            </a:r>
            <a:r>
              <a:rPr lang="zh-CN" sz="112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自动化 OpenAPI 文档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572250" y="1333500"/>
            <a:ext cx="5048250" cy="2095500"/>
          </a:xfrm>
          <a:prstGeom prst="roundRect">
            <a:avLst>
              <a:gd name="adj" fmla="val 5455"/>
            </a:avLst>
          </a:prstGeom>
          <a:solidFill>
            <a:srgbClr val="F5F7FA"/>
          </a:solidFill>
          <a:ln w="9525">
            <a:solidFill>
              <a:srgbClr val="E2E8F0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6572250" y="1333500"/>
            <a:ext cx="57150" cy="2095500"/>
          </a:xfrm>
          <a:prstGeom prst="rect">
            <a:avLst/>
          </a:prstGeom>
          <a:solidFill>
            <a:srgbClr val="00BFA5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6837045" y="1584008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D9488"/>
                </a:solidFill>
                <a:latin typeface="Arial"/>
                <a:ea typeface="Microsoft YaHei"/>
                <a:cs typeface="Arial"/>
              </a:rPr>
              <a:t>自我进化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43712" y="2021681"/>
            <a:ext cx="1871662" cy="1085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250"/>
              </a:lnSpc>
            </a:pPr>
            <a:r>
              <a:rPr lang="zh-CN" sz="112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反馈驱动 + APE Prompt 优化</a:t>
            </a:r>
            <a:r>
              <a:rPr lang="zh-CN" sz="112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LoRA 微调管线 (PEFT)</a:t>
            </a:r>
            <a:r>
              <a:rPr lang="zh-CN" sz="112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记忆网络：短期+长期记忆</a:t>
            </a:r>
            <a:r>
              <a:rPr lang="zh-CN" sz="112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越用越好——核心差异化能力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71500" y="3714750"/>
            <a:ext cx="5048250" cy="2095500"/>
          </a:xfrm>
          <a:prstGeom prst="roundRect">
            <a:avLst>
              <a:gd name="adj" fmla="val 5455"/>
            </a:avLst>
          </a:prstGeom>
          <a:solidFill>
            <a:srgbClr val="F5F7FA"/>
          </a:solidFill>
          <a:ln w="9525">
            <a:solidFill>
              <a:srgbClr val="E2E8F0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571500" y="3714750"/>
            <a:ext cx="57150" cy="2095500"/>
          </a:xfrm>
          <a:prstGeom prst="rect">
            <a:avLst/>
          </a:prstGeom>
          <a:solidFill>
            <a:srgbClr val="7C4DFF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836295" y="3965258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5B21B6"/>
                </a:solidFill>
                <a:latin typeface="Arial"/>
                <a:ea typeface="Microsoft YaHei"/>
                <a:cs typeface="Arial"/>
              </a:rPr>
              <a:t>安全可靠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42962" y="4402931"/>
            <a:ext cx="2143125" cy="1085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250"/>
              </a:lnSpc>
            </a:pPr>
            <a:r>
              <a:rPr lang="zh-CN" sz="112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代码沙箱：subprocess 隔离执行</a:t>
            </a:r>
            <a:r>
              <a:rPr lang="zh-CN" sz="112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资源限制：CPU/内存/时间</a:t>
            </a:r>
            <a:r>
              <a:rPr lang="zh-CN" sz="112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白名单函数 + 敏感操作审批</a:t>
            </a:r>
            <a:r>
              <a:rPr lang="zh-CN" sz="112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审计日志 + Docker 全隔离</a:t>
            </a:r>
          </a:p>
        </p:txBody>
      </p:sp>
      <p:sp>
        <p:nvSpPr>
          <p:cNvPr id="19" name="Rectangle 19"/>
          <p:cNvSpPr/>
          <p:nvPr/>
        </p:nvSpPr>
        <p:spPr>
          <a:xfrm>
            <a:off x="6572250" y="3714750"/>
            <a:ext cx="5048250" cy="2095500"/>
          </a:xfrm>
          <a:prstGeom prst="roundRect">
            <a:avLst>
              <a:gd name="adj" fmla="val 5455"/>
            </a:avLst>
          </a:prstGeom>
          <a:solidFill>
            <a:srgbClr val="F5F7FA"/>
          </a:solidFill>
          <a:ln w="9525">
            <a:solidFill>
              <a:srgbClr val="E2E8F0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6572250" y="3714750"/>
            <a:ext cx="57150" cy="20955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6837045" y="3965258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开箱即用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843712" y="4402931"/>
            <a:ext cx="2271712" cy="1085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250"/>
              </a:lnSpc>
            </a:pPr>
            <a:r>
              <a:rPr lang="zh-CN" sz="112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 xml:space="preserve">PyInstaller 打包独立 exe </a:t>
            </a:r>
            <a:r>
              <a:rPr lang="zh-CN" sz="112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Docker Compose 一键部署</a:t>
            </a:r>
            <a:r>
              <a:rPr lang="zh-CN" sz="112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SQLite 零配置 / PostgreSQL 生产</a:t>
            </a:r>
            <a:r>
              <a:rPr lang="zh-CN" sz="112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GitHub Actions CI/CD</a:t>
            </a:r>
          </a:p>
        </p:txBody>
      </p:sp>
      <p:sp>
        <p:nvSpPr>
          <p:cNvPr id="23" name="Rectangle 23"/>
          <p:cNvSpPr/>
          <p:nvPr/>
        </p:nvSpPr>
        <p:spPr>
          <a:xfrm>
            <a:off x="0" y="6762750"/>
            <a:ext cx="12192000" cy="95250"/>
          </a:xfrm>
          <a:prstGeom prst="rect">
            <a:avLst/>
          </a:prstGeom>
          <a:solidFill>
            <a:srgbClr val="1565C0">
              <a:alpha val="8000"/>
            </a:srgbClr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561022" y="6626066"/>
            <a:ext cx="114859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Research Agent · P11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D2B4E"/>
              </a:gs>
              <a:gs pos="100000">
                <a:srgbClr val="1E293B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476250" y="0"/>
            <a:ext cx="2857500" cy="2857500"/>
          </a:xfrm>
          <a:prstGeom prst="ellipse">
            <a:avLst/>
          </a:prstGeom>
          <a:noFill/>
          <a:ln w="9525">
            <a:solidFill>
              <a:srgbClr val="1565C0">
                <a:alpha val="15000"/>
              </a:srgbClr>
            </a:solidFill>
          </a:ln>
        </p:spPr>
      </p:sp>
      <p:sp>
        <p:nvSpPr>
          <p:cNvPr id="4" name="Ellipse 4"/>
          <p:cNvSpPr/>
          <p:nvPr/>
        </p:nvSpPr>
        <p:spPr>
          <a:xfrm>
            <a:off x="952500" y="476250"/>
            <a:ext cx="1905000" cy="1905000"/>
          </a:xfrm>
          <a:prstGeom prst="ellipse">
            <a:avLst/>
          </a:prstGeom>
          <a:noFill/>
          <a:ln w="9525">
            <a:solidFill>
              <a:srgbClr val="1565C0">
                <a:alpha val="10000"/>
              </a:srgbClr>
            </a:solidFill>
          </a:ln>
        </p:spPr>
      </p:sp>
      <p:sp>
        <p:nvSpPr>
          <p:cNvPr id="5" name="Ellipse 5"/>
          <p:cNvSpPr/>
          <p:nvPr/>
        </p:nvSpPr>
        <p:spPr>
          <a:xfrm>
            <a:off x="9239250" y="4286250"/>
            <a:ext cx="2476500" cy="2476500"/>
          </a:xfrm>
          <a:prstGeom prst="ellipse">
            <a:avLst/>
          </a:prstGeom>
          <a:noFill/>
          <a:ln w="9525">
            <a:solidFill>
              <a:srgbClr val="00BFA5">
                <a:alpha val="12000"/>
              </a:srgbClr>
            </a:solidFill>
          </a:ln>
        </p:spPr>
      </p:sp>
      <p:sp>
        <p:nvSpPr>
          <p:cNvPr id="6" name="Ellipse 6"/>
          <p:cNvSpPr/>
          <p:nvPr/>
        </p:nvSpPr>
        <p:spPr>
          <a:xfrm>
            <a:off x="9715500" y="4762500"/>
            <a:ext cx="1524000" cy="1524000"/>
          </a:xfrm>
          <a:prstGeom prst="ellipse">
            <a:avLst/>
          </a:prstGeom>
          <a:noFill/>
          <a:ln w="9525">
            <a:solidFill>
              <a:srgbClr val="00BFA5">
                <a:alpha val="8000"/>
              </a:srgbClr>
            </a:solidFill>
          </a:ln>
        </p:spPr>
      </p:sp>
      <p:sp>
        <p:nvSpPr>
          <p:cNvPr id="7" name="Rectangle 7"/>
          <p:cNvSpPr/>
          <p:nvPr/>
        </p:nvSpPr>
        <p:spPr>
          <a:xfrm>
            <a:off x="762000" y="0"/>
            <a:ext cx="28575" cy="1905000"/>
          </a:xfrm>
          <a:prstGeom prst="rect">
            <a:avLst/>
          </a:prstGeom>
          <a:solidFill>
            <a:srgbClr val="1565C0">
              <a:alpha val="40000"/>
            </a:srgbClr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11401425" y="4953000"/>
            <a:ext cx="28575" cy="1905000"/>
          </a:xfrm>
          <a:prstGeom prst="rect">
            <a:avLst/>
          </a:prstGeom>
          <a:solidFill>
            <a:srgbClr val="00BFA5">
              <a:alpha val="40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5362956" y="2339340"/>
            <a:ext cx="1466088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感谢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411248" y="3107055"/>
            <a:ext cx="136950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E0E7FF"/>
                </a:solidFill>
                <a:latin typeface="Arial"/>
                <a:ea typeface="Microsoft YaHei"/>
                <a:cs typeface="Arial"/>
              </a:rPr>
              <a:t>Thank You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143500" y="3571875"/>
            <a:ext cx="1905000" cy="28575"/>
          </a:xfrm>
          <a:prstGeom prst="roundRect">
            <a:avLst>
              <a:gd name="adj" fmla="val 50000"/>
            </a:avLst>
          </a:prstGeom>
          <a:solidFill>
            <a:srgbClr val="00BFA5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5165241" y="3950018"/>
            <a:ext cx="186151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Research Agent Team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928646" y="4268152"/>
            <a:ext cx="33470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2026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580977" y="4839652"/>
            <a:ext cx="30300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让 AI 与科研数据碰撞，释放监测分析的无限可能</a:t>
            </a:r>
          </a:p>
        </p:txBody>
      </p:sp>
      <p:sp>
        <p:nvSpPr>
          <p:cNvPr id="15" name="Rectangle 15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1565C0">
              <a:alpha val="15000"/>
            </a:srgbClr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2026-07-05T11:27:07Z</dcterms:created>
  <dcterms:modified xsi:type="dcterms:W3CDTF">2026-07-05T11:27:07Z</dcterms:modified>
  <cp:category/>
  <cp:contentStatus/>
</cp:coreProperties>
</file>